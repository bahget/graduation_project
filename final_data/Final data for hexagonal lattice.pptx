
<file path=[Content_Types].xml><?xml version="1.0" encoding="utf-8"?>
<Types xmlns="http://schemas.openxmlformats.org/package/2006/content-types">
  <Default Extension="png" ContentType="image/png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906000" cy="6858000" type="A4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20"/>
    <p:restoredTop sz="94660"/>
  </p:normalViewPr>
  <p:slideViewPr>
    <p:cSldViewPr>
      <p:cViewPr>
        <p:scale>
          <a:sx n="125" d="100"/>
          <a:sy n="125" d="100"/>
        </p:scale>
        <p:origin x="-1794" y="-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2130427"/>
            <a:ext cx="84201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A82ED-DC87-4BE2-B32E-E394FD110A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003AA-301F-4BD3-9F01-016073628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8694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A82ED-DC87-4BE2-B32E-E394FD110A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003AA-301F-4BD3-9F01-016073628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61185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2506" y="4406901"/>
            <a:ext cx="84201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2506" y="2906714"/>
            <a:ext cx="84201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A82ED-DC87-4BE2-B32E-E394FD110A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003AA-301F-4BD3-9F01-016073628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318955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36576" y="1600201"/>
            <a:ext cx="474662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448301" y="1600201"/>
            <a:ext cx="474662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A82ED-DC87-4BE2-B32E-E394FD110A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003AA-301F-4BD3-9F01-016073628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0857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1" y="1535113"/>
            <a:ext cx="437687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95301" y="2174875"/>
            <a:ext cx="437687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32111" y="1535113"/>
            <a:ext cx="437859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32111" y="2174875"/>
            <a:ext cx="437859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A82ED-DC87-4BE2-B32E-E394FD110A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003AA-301F-4BD3-9F01-016073628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0698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A82ED-DC87-4BE2-B32E-E394FD110A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003AA-301F-4BD3-9F01-016073628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33040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A82ED-DC87-4BE2-B32E-E394FD110A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003AA-301F-4BD3-9F01-016073628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6439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95301" y="273050"/>
            <a:ext cx="3259006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72972" y="273052"/>
            <a:ext cx="5537728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95301" y="1435101"/>
            <a:ext cx="3259006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A82ED-DC87-4BE2-B32E-E394FD110A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003AA-301F-4BD3-9F01-016073628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806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41645" y="4800600"/>
            <a:ext cx="59436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941645" y="612775"/>
            <a:ext cx="59436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941645" y="5367338"/>
            <a:ext cx="59436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A82ED-DC87-4BE2-B32E-E394FD110A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003AA-301F-4BD3-9F01-016073628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4046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A82ED-DC87-4BE2-B32E-E394FD110A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003AA-301F-4BD3-9F01-016073628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526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780337" y="274640"/>
            <a:ext cx="2414588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36576" y="274640"/>
            <a:ext cx="7078663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9A82ED-DC87-4BE2-B32E-E394FD110A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7D003AA-301F-4BD3-9F01-016073628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63131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95300" y="1600201"/>
            <a:ext cx="89154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95300" y="6356352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B9A82ED-DC87-4BE2-B32E-E394FD110A5B}" type="datetimeFigureOut">
              <a:rPr lang="en-US" smtClean="0"/>
              <a:t>3/2/2026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384550" y="6356352"/>
            <a:ext cx="31369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099300" y="6356352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7D003AA-301F-4BD3-9F01-016073628BA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762569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18" Type="http://schemas.openxmlformats.org/officeDocument/2006/relationships/image" Target="../media/image17.png"/><Relationship Id="rId3" Type="http://schemas.openxmlformats.org/officeDocument/2006/relationships/image" Target="../media/image2.emf"/><Relationship Id="rId7" Type="http://schemas.openxmlformats.org/officeDocument/2006/relationships/image" Target="../media/image6.png"/><Relationship Id="rId12" Type="http://schemas.openxmlformats.org/officeDocument/2006/relationships/image" Target="../media/image11.emf"/><Relationship Id="rId17" Type="http://schemas.openxmlformats.org/officeDocument/2006/relationships/image" Target="../media/image16.png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5.emf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png"/><Relationship Id="rId11" Type="http://schemas.openxmlformats.org/officeDocument/2006/relationships/image" Target="../media/image10.emf"/><Relationship Id="rId5" Type="http://schemas.openxmlformats.org/officeDocument/2006/relationships/image" Target="../media/image4.png"/><Relationship Id="rId15" Type="http://schemas.openxmlformats.org/officeDocument/2006/relationships/image" Target="../media/image14.emf"/><Relationship Id="rId10" Type="http://schemas.openxmlformats.org/officeDocument/2006/relationships/image" Target="../media/image9.emf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emf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7" Type="http://schemas.openxmlformats.org/officeDocument/2006/relationships/image" Target="../media/image23.png"/><Relationship Id="rId2" Type="http://schemas.openxmlformats.org/officeDocument/2006/relationships/image" Target="../media/image18.emf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emf"/><Relationship Id="rId5" Type="http://schemas.openxmlformats.org/officeDocument/2006/relationships/image" Target="../media/image21.emf"/><Relationship Id="rId4" Type="http://schemas.openxmlformats.org/officeDocument/2006/relationships/image" Target="../media/image20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3" Type="http://schemas.openxmlformats.org/officeDocument/2006/relationships/image" Target="../media/image25.emf"/><Relationship Id="rId7" Type="http://schemas.openxmlformats.org/officeDocument/2006/relationships/image" Target="../media/image29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10" Type="http://schemas.openxmlformats.org/officeDocument/2006/relationships/image" Target="../media/image32.png"/><Relationship Id="rId4" Type="http://schemas.openxmlformats.org/officeDocument/2006/relationships/image" Target="../media/image26.emf"/><Relationship Id="rId9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127500" y="2609851"/>
            <a:ext cx="5448300" cy="1470025"/>
          </a:xfrm>
        </p:spPr>
        <p:txBody>
          <a:bodyPr>
            <a:normAutofit/>
          </a:bodyPr>
          <a:lstStyle/>
          <a:p>
            <a:r>
              <a:rPr lang="en-US" dirty="0" smtClean="0"/>
              <a:t>Final data for hexagonal </a:t>
            </a:r>
            <a:r>
              <a:rPr lang="en-US" dirty="0" err="1" smtClean="0"/>
              <a:t>lattce</a:t>
            </a:r>
            <a:endParaRPr lang="en-US" dirty="0"/>
          </a:p>
        </p:txBody>
      </p:sp>
      <p:pic>
        <p:nvPicPr>
          <p:cNvPr id="1027" name="Picture 3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228600" y="1143000"/>
            <a:ext cx="4787900" cy="48815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11237190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8" name="Picture 10"/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060"/>
          <a:stretch/>
        </p:blipFill>
        <p:spPr bwMode="auto">
          <a:xfrm>
            <a:off x="3438525" y="0"/>
            <a:ext cx="3190875" cy="304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35" name="Group 34"/>
          <p:cNvGrpSpPr/>
          <p:nvPr/>
        </p:nvGrpSpPr>
        <p:grpSpPr>
          <a:xfrm>
            <a:off x="3021149" y="-25265"/>
            <a:ext cx="4155937" cy="3167633"/>
            <a:chOff x="152400" y="103191"/>
            <a:chExt cx="4155937" cy="2879661"/>
          </a:xfrm>
        </p:grpSpPr>
        <p:grpSp>
          <p:nvGrpSpPr>
            <p:cNvPr id="21" name="Group 20"/>
            <p:cNvGrpSpPr/>
            <p:nvPr/>
          </p:nvGrpSpPr>
          <p:grpSpPr>
            <a:xfrm>
              <a:off x="152400" y="103191"/>
              <a:ext cx="3512468" cy="2879661"/>
              <a:chOff x="152400" y="103191"/>
              <a:chExt cx="3512468" cy="2879661"/>
            </a:xfrm>
          </p:grpSpPr>
          <p:sp>
            <p:nvSpPr>
              <p:cNvPr id="4" name="TextBox 3"/>
              <p:cNvSpPr txBox="1"/>
              <p:nvPr/>
            </p:nvSpPr>
            <p:spPr>
              <a:xfrm flipH="1">
                <a:off x="152400" y="103191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 smtClean="0">
                    <a:latin typeface="Arial" pitchFamily="34" charset="0"/>
                    <a:cs typeface="Arial" pitchFamily="34" charset="0"/>
                  </a:rPr>
                  <a:t>(a)</a:t>
                </a:r>
                <a:endParaRPr lang="en-US" dirty="0">
                  <a:latin typeface="Arial" pitchFamily="34" charset="0"/>
                  <a:cs typeface="Arial" pitchFamily="34" charset="0"/>
                </a:endParaRPr>
              </a:p>
            </p:txBody>
          </p:sp>
          <p:grpSp>
            <p:nvGrpSpPr>
              <p:cNvPr id="20" name="Group 19"/>
              <p:cNvGrpSpPr/>
              <p:nvPr/>
            </p:nvGrpSpPr>
            <p:grpSpPr>
              <a:xfrm>
                <a:off x="762000" y="112296"/>
                <a:ext cx="2902868" cy="2870556"/>
                <a:chOff x="762000" y="112296"/>
                <a:chExt cx="2902868" cy="2870556"/>
              </a:xfrm>
            </p:grpSpPr>
            <p:cxnSp>
              <p:nvCxnSpPr>
                <p:cNvPr id="6" name="Straight Connector 5"/>
                <p:cNvCxnSpPr/>
                <p:nvPr/>
              </p:nvCxnSpPr>
              <p:spPr>
                <a:xfrm>
                  <a:off x="912019" y="292895"/>
                  <a:ext cx="2669381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2" name="TextBox 11"/>
                    <p:cNvSpPr txBox="1"/>
                    <p:nvPr/>
                  </p:nvSpPr>
                  <p:spPr>
                    <a:xfrm>
                      <a:off x="762000" y="112296"/>
                      <a:ext cx="383381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acc>
                              <m:accPr>
                                <m:chr m:val="̅"/>
                                <m:ctrlPr>
                                  <a:rPr lang="el-GR" sz="1100" i="1" dirty="0" smtClean="0">
                                    <a:latin typeface="Cambria Math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l-GR" sz="1100" i="0" dirty="0" smtClean="0">
                                    <a:latin typeface="Cambria Math"/>
                                  </a:rPr>
                                  <m:t>Γ</m:t>
                                </m:r>
                              </m:e>
                            </m:acc>
                          </m:oMath>
                        </m:oMathPara>
                      </a14:m>
                      <a:endParaRPr lang="en-US" sz="1100" dirty="0"/>
                    </a:p>
                  </p:txBody>
                </p:sp>
              </mc:Choice>
              <mc:Fallback>
                <p:sp>
                  <p:nvSpPr>
                    <p:cNvPr id="12" name="TextBox 1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2000" y="112296"/>
                      <a:ext cx="383381" cy="261610"/>
                    </a:xfrm>
                    <a:prstGeom prst="rect">
                      <a:avLst/>
                    </a:prstGeom>
                    <a:blipFill rotWithShape="1">
                      <a:blip r:embed="rId4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4" name="TextBox 13"/>
                    <p:cNvSpPr txBox="1"/>
                    <p:nvPr/>
                  </p:nvSpPr>
                  <p:spPr>
                    <a:xfrm>
                      <a:off x="1600200" y="112296"/>
                      <a:ext cx="383381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acc>
                              <m:accPr>
                                <m:chr m:val="̅"/>
                                <m:ctrlPr>
                                  <a:rPr lang="el-GR" sz="1100" i="1" dirty="0" smtClean="0">
                                    <a:latin typeface="Cambria Math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sz="1100" b="0" i="0" dirty="0" smtClean="0">
                                    <a:latin typeface="Cambria Math"/>
                                  </a:rPr>
                                  <m:t>M</m:t>
                                </m:r>
                              </m:e>
                            </m:acc>
                          </m:oMath>
                        </m:oMathPara>
                      </a14:m>
                      <a:endParaRPr lang="en-US" sz="1100" dirty="0"/>
                    </a:p>
                  </p:txBody>
                </p:sp>
              </mc:Choice>
              <mc:Fallback>
                <p:sp>
                  <p:nvSpPr>
                    <p:cNvPr id="14" name="TextBox 1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00200" y="112296"/>
                      <a:ext cx="383381" cy="261610"/>
                    </a:xfrm>
                    <a:prstGeom prst="rect">
                      <a:avLst/>
                    </a:prstGeom>
                    <a:blipFill rotWithShape="1"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8" name="TextBox 17"/>
                    <p:cNvSpPr txBox="1"/>
                    <p:nvPr/>
                  </p:nvSpPr>
                  <p:spPr>
                    <a:xfrm>
                      <a:off x="2286000" y="112296"/>
                      <a:ext cx="383381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acc>
                              <m:accPr>
                                <m:chr m:val="̅"/>
                                <m:ctrlPr>
                                  <a:rPr lang="el-GR" sz="1100" i="1" dirty="0" smtClean="0">
                                    <a:latin typeface="Cambria Math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sz="1100" b="0" i="0" dirty="0" smtClean="0">
                                    <a:latin typeface="Cambria Math"/>
                                  </a:rPr>
                                  <m:t>K</m:t>
                                </m:r>
                              </m:e>
                            </m:acc>
                          </m:oMath>
                        </m:oMathPara>
                      </a14:m>
                      <a:endParaRPr lang="en-US" sz="1100" dirty="0"/>
                    </a:p>
                  </p:txBody>
                </p:sp>
              </mc:Choice>
              <mc:Fallback>
                <p:sp>
                  <p:nvSpPr>
                    <p:cNvPr id="18" name="TextBox 17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86000" y="112296"/>
                      <a:ext cx="383381" cy="261610"/>
                    </a:xfrm>
                    <a:prstGeom prst="rect">
                      <a:avLst/>
                    </a:prstGeom>
                    <a:blipFill rotWithShape="1">
                      <a:blip r:embed="rId6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9" name="TextBox 18"/>
                    <p:cNvSpPr txBox="1"/>
                    <p:nvPr/>
                  </p:nvSpPr>
                  <p:spPr>
                    <a:xfrm>
                      <a:off x="3281487" y="112460"/>
                      <a:ext cx="383381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acc>
                              <m:accPr>
                                <m:chr m:val="̅"/>
                                <m:ctrlPr>
                                  <a:rPr lang="el-GR" sz="1100" i="1" dirty="0" smtClean="0">
                                    <a:latin typeface="Cambria Math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l-GR" sz="1100" i="0" dirty="0" smtClean="0">
                                    <a:latin typeface="Cambria Math"/>
                                  </a:rPr>
                                  <m:t>Γ</m:t>
                                </m:r>
                              </m:e>
                            </m:acc>
                          </m:oMath>
                        </m:oMathPara>
                      </a14:m>
                      <a:endParaRPr lang="en-US" sz="1100" dirty="0"/>
                    </a:p>
                  </p:txBody>
                </p:sp>
              </mc:Choice>
              <mc:Fallback>
                <p:sp>
                  <p:nvSpPr>
                    <p:cNvPr id="19" name="TextBox 18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1487" y="112460"/>
                      <a:ext cx="383381" cy="261610"/>
                    </a:xfrm>
                    <a:prstGeom prst="rect">
                      <a:avLst/>
                    </a:prstGeom>
                    <a:blipFill rotWithShape="1">
                      <a:blip r:embed="rId7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13" name="TextBox 12"/>
                    <p:cNvSpPr txBox="1"/>
                    <p:nvPr/>
                  </p:nvSpPr>
                  <p:spPr>
                    <a:xfrm>
                      <a:off x="1901871" y="2689245"/>
                      <a:ext cx="689676" cy="293607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12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en-US" sz="1200" b="0" i="1" smtClean="0">
                                  <a:latin typeface="Cambria Math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200" b="0" i="1" smtClean="0">
                                  <a:latin typeface="Cambria Math"/>
                                </a:rPr>
                                <m:t>||</m:t>
                              </m:r>
                            </m:sub>
                          </m:sSub>
                        </m:oMath>
                      </a14:m>
                      <a:r>
                        <a:rPr lang="en-US" sz="1200" dirty="0" smtClean="0"/>
                        <a:t>(</a:t>
                      </a:r>
                      <a14:m>
                        <m:oMath xmlns:m="http://schemas.openxmlformats.org/officeDocument/2006/math">
                          <m:sSup>
                            <m:sSupPr>
                              <m:ctrlPr>
                                <a:rPr lang="en-US" sz="1200" i="1" dirty="0" smtClean="0">
                                  <a:latin typeface="Cambria Math"/>
                                </a:rPr>
                              </m:ctrlPr>
                            </m:sSupPr>
                            <m:e>
                              <m:r>
                                <a:rPr lang="en-US" sz="1200" b="0" i="1" dirty="0" smtClean="0">
                                  <a:latin typeface="Cambria Math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sz="1200" b="0" i="1" dirty="0" smtClean="0">
                                  <a:latin typeface="Cambria Math"/>
                                </a:rPr>
                                <m:t>−1</m:t>
                              </m:r>
                            </m:sup>
                          </m:sSup>
                        </m:oMath>
                      </a14:m>
                      <a:r>
                        <a:rPr lang="en-US" sz="1200" dirty="0" smtClean="0"/>
                        <a:t>)</a:t>
                      </a:r>
                      <a:endParaRPr lang="en-US" sz="1200" dirty="0"/>
                    </a:p>
                  </p:txBody>
                </p:sp>
              </mc:Choice>
              <mc:Fallback>
                <p:sp>
                  <p:nvSpPr>
                    <p:cNvPr id="13" name="TextBox 1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901871" y="2689245"/>
                      <a:ext cx="689676" cy="293607"/>
                    </a:xfrm>
                    <a:prstGeom prst="rect">
                      <a:avLst/>
                    </a:prstGeom>
                    <a:blipFill rotWithShape="1">
                      <a:blip r:embed="rId8"/>
                      <a:stretch>
                        <a:fillRect b="-1923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grpSp>
          <p:nvGrpSpPr>
            <p:cNvPr id="34" name="Group 33"/>
            <p:cNvGrpSpPr/>
            <p:nvPr/>
          </p:nvGrpSpPr>
          <p:grpSpPr>
            <a:xfrm>
              <a:off x="3379651" y="1038903"/>
              <a:ext cx="928686" cy="680526"/>
              <a:chOff x="5095218" y="1417773"/>
              <a:chExt cx="928686" cy="680526"/>
            </a:xfrm>
          </p:grpSpPr>
          <p:sp>
            <p:nvSpPr>
              <p:cNvPr id="22" name="Hexagon 21"/>
              <p:cNvSpPr/>
              <p:nvPr/>
            </p:nvSpPr>
            <p:spPr>
              <a:xfrm>
                <a:off x="5095218" y="1439202"/>
                <a:ext cx="800517" cy="659097"/>
              </a:xfrm>
              <a:prstGeom prst="hexagon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>
                    <a:solidFill>
                      <a:schemeClr val="tx1"/>
                    </a:solidFill>
                  </a:ln>
                  <a:noFill/>
                </a:endParaRPr>
              </a:p>
            </p:txBody>
          </p:sp>
          <p:cxnSp>
            <p:nvCxnSpPr>
              <p:cNvPr id="27" name="Straight Arrow Connector 26"/>
              <p:cNvCxnSpPr>
                <a:stCxn id="22" idx="0"/>
              </p:cNvCxnSpPr>
              <p:nvPr/>
            </p:nvCxnSpPr>
            <p:spPr>
              <a:xfrm flipH="1">
                <a:off x="5495477" y="1768753"/>
                <a:ext cx="400259" cy="0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/>
              <p:cNvCxnSpPr/>
              <p:nvPr/>
            </p:nvCxnSpPr>
            <p:spPr>
              <a:xfrm flipV="1">
                <a:off x="5495477" y="1589057"/>
                <a:ext cx="311542" cy="179696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1" name="Straight Arrow Connector 30"/>
              <p:cNvCxnSpPr/>
              <p:nvPr/>
            </p:nvCxnSpPr>
            <p:spPr>
              <a:xfrm>
                <a:off x="5807018" y="1589057"/>
                <a:ext cx="88717" cy="187316"/>
              </a:xfrm>
              <a:prstGeom prst="straightConnector1">
                <a:avLst/>
              </a:prstGeom>
              <a:ln w="12700">
                <a:solidFill>
                  <a:srgbClr val="FF0000"/>
                </a:solidFill>
                <a:tailEnd type="arrow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2" name="TextBox 31"/>
              <p:cNvSpPr txBox="1"/>
              <p:nvPr/>
            </p:nvSpPr>
            <p:spPr>
              <a:xfrm>
                <a:off x="5842988" y="1417773"/>
                <a:ext cx="105494" cy="1210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 smtClean="0">
                    <a:latin typeface="Arial" pitchFamily="34" charset="0"/>
                    <a:cs typeface="Arial" pitchFamily="34" charset="0"/>
                  </a:rPr>
                  <a:t>M</a:t>
                </a:r>
                <a:endParaRPr lang="en-US" sz="1000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38" name="TextBox 37"/>
              <p:cNvSpPr txBox="1"/>
              <p:nvPr/>
            </p:nvSpPr>
            <p:spPr>
              <a:xfrm>
                <a:off x="5918410" y="1644617"/>
                <a:ext cx="105494" cy="1210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000" dirty="0" smtClean="0">
                    <a:latin typeface="Arial" pitchFamily="34" charset="0"/>
                    <a:cs typeface="Arial" pitchFamily="34" charset="0"/>
                  </a:rPr>
                  <a:t>K</a:t>
                </a:r>
                <a:endParaRPr lang="en-US" sz="1000" dirty="0">
                  <a:latin typeface="Arial" pitchFamily="34" charset="0"/>
                  <a:cs typeface="Arial" pitchFamily="34" charset="0"/>
                </a:endParaRPr>
              </a:p>
            </p:txBody>
          </p:sp>
          <p:sp>
            <p:nvSpPr>
              <p:cNvPr id="39" name="TextBox 38"/>
              <p:cNvSpPr txBox="1"/>
              <p:nvPr/>
            </p:nvSpPr>
            <p:spPr>
              <a:xfrm>
                <a:off x="5387601" y="1637476"/>
                <a:ext cx="105494" cy="12105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:r>
                  <a:rPr lang="el-GR" sz="1000" dirty="0" smtClean="0">
                    <a:latin typeface="Arial" pitchFamily="34" charset="0"/>
                    <a:cs typeface="Arial" pitchFamily="34" charset="0"/>
                  </a:rPr>
                  <a:t>Γ</a:t>
                </a:r>
                <a:endParaRPr lang="en-US" sz="1000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/>
              <p:cNvSpPr txBox="1"/>
              <p:nvPr/>
            </p:nvSpPr>
            <p:spPr>
              <a:xfrm>
                <a:off x="609600" y="5715000"/>
                <a:ext cx="8229600" cy="117743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="1" dirty="0" smtClean="0">
                    <a:latin typeface="Arial" pitchFamily="34" charset="0"/>
                    <a:cs typeface="Arial" pitchFamily="34" charset="0"/>
                  </a:rPr>
                  <a:t>Fig(1):</a:t>
                </a:r>
                <a:r>
                  <a:rPr lang="en-US" sz="1400" dirty="0" smtClean="0">
                    <a:latin typeface="Arial" pitchFamily="34" charset="0"/>
                    <a:cs typeface="Arial" pitchFamily="34" charset="0"/>
                  </a:rPr>
                  <a:t> </a:t>
                </a:r>
                <a:r>
                  <a:rPr lang="en-US" sz="1400" b="1" dirty="0" smtClean="0">
                    <a:latin typeface="Arial" pitchFamily="34" charset="0"/>
                    <a:cs typeface="Arial" pitchFamily="34" charset="0"/>
                  </a:rPr>
                  <a:t>Band structure and CES of hexagonal metallic lattice</a:t>
                </a:r>
                <a:r>
                  <a:rPr lang="en-US" sz="1400" dirty="0" smtClean="0">
                    <a:latin typeface="Arial" pitchFamily="34" charset="0"/>
                    <a:cs typeface="Arial" pitchFamily="34" charset="0"/>
                  </a:rPr>
                  <a:t> </a:t>
                </a:r>
                <a:br>
                  <a:rPr lang="en-US" sz="1400" dirty="0" smtClean="0">
                    <a:latin typeface="Arial" pitchFamily="34" charset="0"/>
                    <a:cs typeface="Arial" pitchFamily="34" charset="0"/>
                  </a:rPr>
                </a:br>
                <a:r>
                  <a:rPr lang="en-US" sz="1400" dirty="0" smtClean="0">
                    <a:latin typeface="Arial" pitchFamily="34" charset="0"/>
                    <a:cs typeface="Arial" pitchFamily="34" charset="0"/>
                  </a:rPr>
                  <a:t>(a) Calculated band structure using EPWE along the</a:t>
                </a:r>
                <a14:m>
                  <m:oMath xmlns:m="http://schemas.openxmlformats.org/officeDocument/2006/math">
                    <m:r>
                      <a:rPr lang="en-US" sz="1400" b="0" i="1" smtClean="0">
                        <a:latin typeface="Cambria Math"/>
                        <a:cs typeface="Arial" pitchFamily="34" charset="0"/>
                      </a:rPr>
                      <m:t> </m:t>
                    </m:r>
                    <m:acc>
                      <m:accPr>
                        <m:chr m:val="̅"/>
                        <m:ctrlPr>
                          <a:rPr lang="en-US" sz="1400" b="0" i="1" smtClean="0">
                            <a:latin typeface="Cambria Math"/>
                            <a:cs typeface="Arial" pitchFamily="34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lang="el-GR" sz="1400" dirty="0" smtClean="0">
                            <a:latin typeface="Arial" pitchFamily="34" charset="0"/>
                            <a:cs typeface="Arial" pitchFamily="34" charset="0"/>
                          </a:rPr>
                          <m:t>Γ</m:t>
                        </m:r>
                        <m:r>
                          <m:rPr>
                            <m:nor/>
                          </m:rPr>
                          <a:rPr lang="en-US" sz="1400" dirty="0" smtClean="0">
                            <a:latin typeface="Arial" pitchFamily="34" charset="0"/>
                            <a:cs typeface="Arial" pitchFamily="34" charset="0"/>
                          </a:rPr>
                          <m:t>MK</m:t>
                        </m:r>
                        <m:r>
                          <m:rPr>
                            <m:nor/>
                          </m:rPr>
                          <a:rPr lang="el-GR" sz="1400" dirty="0" smtClean="0">
                            <a:latin typeface="Arial" pitchFamily="34" charset="0"/>
                            <a:cs typeface="Arial" pitchFamily="34" charset="0"/>
                          </a:rPr>
                          <m:t>Γ</m:t>
                        </m:r>
                      </m:e>
                    </m:acc>
                  </m:oMath>
                </a14:m>
                <a:r>
                  <a:rPr lang="en-US" sz="1400" dirty="0" smtClean="0">
                    <a:latin typeface="Arial" pitchFamily="34" charset="0"/>
                    <a:cs typeface="Arial" pitchFamily="34" charset="0"/>
                  </a:rPr>
                  <a:t> directions of first </a:t>
                </a:r>
                <a:r>
                  <a:rPr lang="en-US" sz="1400" dirty="0" err="1" smtClean="0">
                    <a:latin typeface="Arial" pitchFamily="34" charset="0"/>
                    <a:cs typeface="Arial" pitchFamily="34" charset="0"/>
                  </a:rPr>
                  <a:t>brillouin</a:t>
                </a:r>
                <a:r>
                  <a:rPr lang="en-US" sz="1400" dirty="0" smtClean="0">
                    <a:latin typeface="Arial" pitchFamily="34" charset="0"/>
                    <a:cs typeface="Arial" pitchFamily="34" charset="0"/>
                  </a:rPr>
                  <a:t> zone arrows in black hexagon.</a:t>
                </a:r>
                <a:br>
                  <a:rPr lang="en-US" sz="1400" dirty="0" smtClean="0">
                    <a:latin typeface="Arial" pitchFamily="34" charset="0"/>
                    <a:cs typeface="Arial" pitchFamily="34" charset="0"/>
                  </a:rPr>
                </a:br>
                <a:r>
                  <a:rPr lang="en-US" sz="1400" dirty="0" smtClean="0">
                    <a:latin typeface="Arial" pitchFamily="34" charset="0"/>
                    <a:cs typeface="Arial" pitchFamily="34" charset="0"/>
                  </a:rPr>
                  <a:t>(b,c,d) Simulated Constant energy surfaces taken at the black dashed lines in (a), i.e. at 200, 244 and 285 mille electron-volt respectively.</a:t>
                </a:r>
                <a:endParaRPr lang="en-US" sz="1400" dirty="0"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>
          <p:sp>
            <p:nvSpPr>
              <p:cNvPr id="36" name="TextBox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5715000"/>
                <a:ext cx="8229600" cy="1177438"/>
              </a:xfrm>
              <a:prstGeom prst="rect">
                <a:avLst/>
              </a:prstGeom>
              <a:blipFill rotWithShape="1">
                <a:blip r:embed="rId9"/>
                <a:stretch>
                  <a:fillRect l="-148" t="-518" b="-414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055" name="Picture 7"/>
          <p:cNvPicPr>
            <a:picLocks noChangeAspect="1" noChangeArrowheads="1"/>
          </p:cNvPicPr>
          <p:nvPr/>
        </p:nvPicPr>
        <p:blipFill rotWithShape="1">
          <a:blip r:embed="rId1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56" t="4505" r="4056" b="4505"/>
          <a:stretch/>
        </p:blipFill>
        <p:spPr bwMode="auto">
          <a:xfrm>
            <a:off x="1533525" y="3449637"/>
            <a:ext cx="1971675" cy="19558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7" name="TextBox 36"/>
          <p:cNvSpPr txBox="1"/>
          <p:nvPr/>
        </p:nvSpPr>
        <p:spPr>
          <a:xfrm>
            <a:off x="1425893" y="3065729"/>
            <a:ext cx="5095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latin typeface="Baskerville Old Face" pitchFamily="18" charset="0"/>
                <a:cs typeface="Arial" pitchFamily="34" charset="0"/>
              </a:rPr>
              <a:t>(b)</a:t>
            </a:r>
            <a:endParaRPr lang="en-US" dirty="0">
              <a:latin typeface="Baskerville Old Face" pitchFamily="18" charset="0"/>
              <a:cs typeface="Arial" pitchFamily="34" charset="0"/>
            </a:endParaRPr>
          </a:p>
        </p:txBody>
      </p:sp>
      <p:sp>
        <p:nvSpPr>
          <p:cNvPr id="40" name="TextBox 39"/>
          <p:cNvSpPr txBox="1"/>
          <p:nvPr/>
        </p:nvSpPr>
        <p:spPr>
          <a:xfrm>
            <a:off x="2062162" y="3096507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Baskerville Old Face" pitchFamily="18" charset="0"/>
                <a:cs typeface="Arial" pitchFamily="34" charset="0"/>
              </a:rPr>
              <a:t>200 meV</a:t>
            </a:r>
            <a:endParaRPr lang="en-US" sz="1400" dirty="0">
              <a:latin typeface="Baskerville Old Face" pitchFamily="18" charset="0"/>
              <a:cs typeface="Arial" pitchFamily="34" charset="0"/>
            </a:endParaRPr>
          </a:p>
        </p:txBody>
      </p:sp>
      <p:pic>
        <p:nvPicPr>
          <p:cNvPr id="2056" name="Picture 8"/>
          <p:cNvPicPr>
            <a:picLocks noChangeAspect="1" noChangeArrowheads="1"/>
          </p:cNvPicPr>
          <p:nvPr/>
        </p:nvPicPr>
        <p:blipFill rotWithShape="1"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67" t="4438" r="3792" b="4438"/>
          <a:stretch/>
        </p:blipFill>
        <p:spPr bwMode="auto">
          <a:xfrm>
            <a:off x="4046538" y="3449637"/>
            <a:ext cx="1973523" cy="19558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8" name="TextBox 47"/>
          <p:cNvSpPr txBox="1"/>
          <p:nvPr/>
        </p:nvSpPr>
        <p:spPr>
          <a:xfrm>
            <a:off x="3936524" y="3065729"/>
            <a:ext cx="6286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Baskerville Old Face" pitchFamily="18" charset="0"/>
                <a:cs typeface="Arial" pitchFamily="34" charset="0"/>
              </a:rPr>
              <a:t>(c)</a:t>
            </a:r>
            <a:endParaRPr lang="en-US" dirty="0">
              <a:latin typeface="Baskerville Old Face" pitchFamily="18" charset="0"/>
              <a:cs typeface="Arial" pitchFamily="34" charset="0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4576099" y="3096507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Baskerville Old Face" pitchFamily="18" charset="0"/>
                <a:cs typeface="Arial" pitchFamily="34" charset="0"/>
              </a:rPr>
              <a:t>244 meV</a:t>
            </a:r>
            <a:endParaRPr lang="en-US" sz="1400" dirty="0">
              <a:latin typeface="Baskerville Old Face" pitchFamily="18" charset="0"/>
              <a:cs typeface="Arial" pitchFamily="34" charset="0"/>
            </a:endParaRPr>
          </a:p>
        </p:txBody>
      </p:sp>
      <p:pic>
        <p:nvPicPr>
          <p:cNvPr id="2057" name="Picture 9"/>
          <p:cNvPicPr>
            <a:picLocks noChangeAspect="1" noChangeArrowheads="1"/>
          </p:cNvPicPr>
          <p:nvPr/>
        </p:nvPicPr>
        <p:blipFill rotWithShape="1">
          <a:blip r:embed="rId1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260" t="4733" r="5245" b="4144"/>
          <a:stretch/>
        </p:blipFill>
        <p:spPr bwMode="auto">
          <a:xfrm>
            <a:off x="6535205" y="3449637"/>
            <a:ext cx="1948871" cy="19558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49" name="TextBox 48"/>
          <p:cNvSpPr txBox="1"/>
          <p:nvPr/>
        </p:nvSpPr>
        <p:spPr>
          <a:xfrm>
            <a:off x="6451385" y="3065729"/>
            <a:ext cx="6286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Baskerville Old Face" pitchFamily="18" charset="0"/>
                <a:cs typeface="Arial" pitchFamily="34" charset="0"/>
              </a:rPr>
              <a:t>(d)</a:t>
            </a:r>
            <a:endParaRPr lang="en-US" dirty="0">
              <a:latin typeface="Baskerville Old Face" pitchFamily="18" charset="0"/>
              <a:cs typeface="Arial" pitchFamily="34" charset="0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7052440" y="3096507"/>
            <a:ext cx="91440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smtClean="0">
                <a:latin typeface="Baskerville Old Face" pitchFamily="18" charset="0"/>
                <a:cs typeface="Arial" pitchFamily="34" charset="0"/>
              </a:rPr>
              <a:t>285 meV</a:t>
            </a:r>
            <a:endParaRPr lang="en-US" sz="1400" dirty="0">
              <a:latin typeface="Baskerville Old Face" pitchFamily="18" charset="0"/>
              <a:cs typeface="Arial" pitchFamily="34" charset="0"/>
            </a:endParaRPr>
          </a:p>
        </p:txBody>
      </p:sp>
      <p:pic>
        <p:nvPicPr>
          <p:cNvPr id="2060" name="Picture 12"/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15400" y="3383325"/>
            <a:ext cx="844859" cy="207315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61" name="Picture 13"/>
          <p:cNvPicPr>
            <a:picLocks noChangeAspect="1" noChangeArrowheads="1"/>
          </p:cNvPicPr>
          <p:nvPr/>
        </p:nvPicPr>
        <p:blipFill rotWithShape="1">
          <a:blip r:embed="rId1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8" r="6902"/>
          <a:stretch/>
        </p:blipFill>
        <p:spPr bwMode="auto">
          <a:xfrm>
            <a:off x="1359210" y="3435061"/>
            <a:ext cx="2184090" cy="21792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63" name="Picture 15"/>
          <p:cNvPicPr>
            <a:picLocks noChangeAspect="1" noChangeArrowheads="1"/>
          </p:cNvPicPr>
          <p:nvPr/>
        </p:nvPicPr>
        <p:blipFill>
          <a:blip r:embed="rId1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8569" y="3338519"/>
            <a:ext cx="2155940" cy="215264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64" name="Picture 16"/>
          <p:cNvPicPr>
            <a:picLocks noChangeAspect="1" noChangeArrowheads="1"/>
          </p:cNvPicPr>
          <p:nvPr/>
        </p:nvPicPr>
        <p:blipFill>
          <a:blip r:embed="rId1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08592" y="3390904"/>
            <a:ext cx="2344882" cy="226521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65" name="Picture 17"/>
          <p:cNvPicPr>
            <a:picLocks noChangeAspect="1" noChangeArrowheads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3578" y="5519137"/>
            <a:ext cx="600422" cy="22851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2066" name="Picture 18"/>
          <p:cNvPicPr>
            <a:picLocks noChangeAspect="1" noChangeArrowheads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78222" y="4114800"/>
            <a:ext cx="280988" cy="61912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338" name="Rectangle 337"/>
          <p:cNvSpPr/>
          <p:nvPr/>
        </p:nvSpPr>
        <p:spPr>
          <a:xfrm rot="16200000">
            <a:off x="2342715" y="1352115"/>
            <a:ext cx="1712393" cy="30777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1400" dirty="0" smtClean="0"/>
              <a:t>Electron Energy (</a:t>
            </a:r>
            <a:r>
              <a:rPr lang="en-US" sz="1400" dirty="0" err="1" smtClean="0"/>
              <a:t>eV</a:t>
            </a:r>
            <a:r>
              <a:rPr lang="en-US" sz="1400" dirty="0" smtClean="0"/>
              <a:t>)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7196756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" name="Group 32"/>
          <p:cNvGrpSpPr/>
          <p:nvPr/>
        </p:nvGrpSpPr>
        <p:grpSpPr>
          <a:xfrm>
            <a:off x="1066800" y="67562"/>
            <a:ext cx="4724400" cy="2952325"/>
            <a:chOff x="1066799" y="67562"/>
            <a:chExt cx="5276739" cy="3297487"/>
          </a:xfrm>
        </p:grpSpPr>
        <p:pic>
          <p:nvPicPr>
            <p:cNvPr id="43" name="Picture 9"/>
            <p:cNvPicPr>
              <a:picLocks noChangeAspect="1" noChangeArrowheads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066800" y="455428"/>
              <a:ext cx="4707399" cy="2909621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cxnSp>
          <p:nvCxnSpPr>
            <p:cNvPr id="5" name="Straight Connector 4"/>
            <p:cNvCxnSpPr/>
            <p:nvPr/>
          </p:nvCxnSpPr>
          <p:spPr>
            <a:xfrm>
              <a:off x="3611880" y="413899"/>
              <a:ext cx="0" cy="2605477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>
              <a:off x="4434840" y="406279"/>
              <a:ext cx="0" cy="2605477"/>
            </a:xfrm>
            <a:prstGeom prst="line">
              <a:avLst/>
            </a:prstGeom>
            <a:ln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9" name="Group 8"/>
            <p:cNvGrpSpPr/>
            <p:nvPr/>
          </p:nvGrpSpPr>
          <p:grpSpPr>
            <a:xfrm>
              <a:off x="4809824" y="455428"/>
              <a:ext cx="1533714" cy="468512"/>
              <a:chOff x="4732020" y="577635"/>
              <a:chExt cx="2153046" cy="657702"/>
            </a:xfrm>
          </p:grpSpPr>
          <p:pic>
            <p:nvPicPr>
              <p:cNvPr id="3080" name="Picture 8"/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78389"/>
              <a:stretch/>
            </p:blipFill>
            <p:spPr bwMode="auto">
              <a:xfrm>
                <a:off x="4732020" y="580123"/>
                <a:ext cx="396241" cy="572144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sp>
            <p:nvSpPr>
              <p:cNvPr id="8" name="TextBox 7"/>
              <p:cNvSpPr txBox="1"/>
              <p:nvPr/>
            </p:nvSpPr>
            <p:spPr>
              <a:xfrm>
                <a:off x="5122960" y="577635"/>
                <a:ext cx="1762106" cy="6577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700" dirty="0" smtClean="0">
                    <a:latin typeface="Arial" pitchFamily="34" charset="0"/>
                    <a:cs typeface="Arial" pitchFamily="34" charset="0"/>
                  </a:rPr>
                  <a:t>LDOS at a</a:t>
                </a:r>
                <a:br>
                  <a:rPr lang="en-US" sz="700" dirty="0" smtClean="0">
                    <a:latin typeface="Arial" pitchFamily="34" charset="0"/>
                    <a:cs typeface="Arial" pitchFamily="34" charset="0"/>
                  </a:rPr>
                </a:br>
                <a:r>
                  <a:rPr lang="en-US" sz="700" dirty="0" smtClean="0">
                    <a:latin typeface="Arial" pitchFamily="34" charset="0"/>
                    <a:cs typeface="Arial" pitchFamily="34" charset="0"/>
                  </a:rPr>
                  <a:t>LDOS at c</a:t>
                </a:r>
                <a:br>
                  <a:rPr lang="en-US" sz="700" dirty="0" smtClean="0">
                    <a:latin typeface="Arial" pitchFamily="34" charset="0"/>
                    <a:cs typeface="Arial" pitchFamily="34" charset="0"/>
                  </a:rPr>
                </a:br>
                <a:r>
                  <a:rPr lang="en-US" sz="700" dirty="0" smtClean="0">
                    <a:latin typeface="Arial" pitchFamily="34" charset="0"/>
                    <a:cs typeface="Arial" pitchFamily="34" charset="0"/>
                  </a:rPr>
                  <a:t>LDOS at b</a:t>
                </a:r>
                <a:endParaRPr lang="en-US" sz="700" dirty="0">
                  <a:latin typeface="Arial" pitchFamily="34" charset="0"/>
                  <a:cs typeface="Arial" pitchFamily="34" charset="0"/>
                </a:endParaRPr>
              </a:p>
            </p:txBody>
          </p:sp>
        </p:grpSp>
        <p:sp>
          <p:nvSpPr>
            <p:cNvPr id="12" name="Rectangle 11"/>
            <p:cNvSpPr/>
            <p:nvPr/>
          </p:nvSpPr>
          <p:spPr>
            <a:xfrm>
              <a:off x="1066799" y="67562"/>
              <a:ext cx="43633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 smtClean="0"/>
                <a:t>(a)</a:t>
              </a:r>
              <a:endParaRPr lang="en-US" dirty="0"/>
            </a:p>
          </p:txBody>
        </p:sp>
      </p:grpSp>
      <p:grpSp>
        <p:nvGrpSpPr>
          <p:cNvPr id="13" name="Group 12"/>
          <p:cNvGrpSpPr/>
          <p:nvPr/>
        </p:nvGrpSpPr>
        <p:grpSpPr>
          <a:xfrm>
            <a:off x="6248400" y="70101"/>
            <a:ext cx="1884567" cy="2596899"/>
            <a:chOff x="5890364" y="-18018"/>
            <a:chExt cx="2339236" cy="3223424"/>
          </a:xfrm>
        </p:grpSpPr>
        <p:grpSp>
          <p:nvGrpSpPr>
            <p:cNvPr id="24" name="Group 23"/>
            <p:cNvGrpSpPr/>
            <p:nvPr/>
          </p:nvGrpSpPr>
          <p:grpSpPr>
            <a:xfrm>
              <a:off x="6172200" y="322282"/>
              <a:ext cx="2057400" cy="2883124"/>
              <a:chOff x="6316428" y="2971800"/>
              <a:chExt cx="2827572" cy="3962400"/>
            </a:xfrm>
          </p:grpSpPr>
          <p:grpSp>
            <p:nvGrpSpPr>
              <p:cNvPr id="25" name="Group 24"/>
              <p:cNvGrpSpPr/>
              <p:nvPr/>
            </p:nvGrpSpPr>
            <p:grpSpPr>
              <a:xfrm>
                <a:off x="6316428" y="2971800"/>
                <a:ext cx="2827572" cy="3962400"/>
                <a:chOff x="6316428" y="2286000"/>
                <a:chExt cx="2827572" cy="3962400"/>
              </a:xfrm>
            </p:grpSpPr>
            <p:pic>
              <p:nvPicPr>
                <p:cNvPr id="28" name="Picture 2"/>
                <p:cNvPicPr>
                  <a:picLocks noChangeAspect="1" noChangeArrowheads="1"/>
                </p:cNvPicPr>
                <p:nvPr/>
              </p:nvPicPr>
              <p:blipFill>
                <a:blip r:embed="rId4" cstate="print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>
                  <a:fillRect/>
                </a:stretch>
              </p:blipFill>
              <p:spPr bwMode="auto">
                <a:xfrm>
                  <a:off x="6316428" y="2286000"/>
                  <a:ext cx="2827572" cy="3962400"/>
                </a:xfrm>
                <a:prstGeom prst="rect">
                  <a:avLst/>
                </a:prstGeom>
                <a:noFill/>
                <a:ln>
                  <a:noFill/>
                </a:ln>
                <a:effectLst/>
                <a:extLst>
                  <a:ext uri="{909E8E84-426E-40DD-AFC4-6F175D3DCCD1}">
                    <a14:hiddenFill xmlns:a14="http://schemas.microsoft.com/office/drawing/2010/main">
                      <a:solidFill>
                        <a:schemeClr val="accent1"/>
                      </a:solidFill>
                    </a14:hiddenFill>
                  </a:ext>
                  <a:ext uri="{91240B29-F687-4F45-9708-019B960494DF}">
                    <a14:hiddenLine xmlns:a14="http://schemas.microsoft.com/office/drawing/2010/main" w="9525">
                      <a:solidFill>
                        <a:schemeClr val="tx1"/>
                      </a:solidFill>
                      <a:miter lim="800000"/>
                      <a:headEnd/>
                      <a:tailEnd/>
                    </a14:hiddenLine>
                  </a:ext>
                  <a:ext uri="{AF507438-7753-43E0-B8FC-AC1667EBCBE1}">
                    <a14:hiddenEffects xmlns:a14="http://schemas.microsoft.com/office/drawing/2010/main">
                      <a:effectLst>
                        <a:outerShdw dist="35921" dir="2700000" algn="ctr" rotWithShape="0">
                          <a:schemeClr val="bg2"/>
                        </a:outerShdw>
                      </a:effectLst>
                    </a14:hiddenEffects>
                  </a:ext>
                </a:extLst>
              </p:spPr>
            </p:pic>
            <p:sp>
              <p:nvSpPr>
                <p:cNvPr id="29" name="TextBox 28"/>
                <p:cNvSpPr txBox="1"/>
                <p:nvPr/>
              </p:nvSpPr>
              <p:spPr>
                <a:xfrm>
                  <a:off x="7543800" y="3505200"/>
                  <a:ext cx="2286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 smtClean="0"/>
                    <a:t>b</a:t>
                  </a:r>
                  <a:endParaRPr lang="en-US" dirty="0"/>
                </a:p>
              </p:txBody>
            </p:sp>
            <p:sp>
              <p:nvSpPr>
                <p:cNvPr id="30" name="TextBox 29"/>
                <p:cNvSpPr txBox="1"/>
                <p:nvPr/>
              </p:nvSpPr>
              <p:spPr>
                <a:xfrm>
                  <a:off x="7543800" y="4355068"/>
                  <a:ext cx="2286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 smtClean="0"/>
                    <a:t>c</a:t>
                  </a:r>
                  <a:endParaRPr lang="en-US" dirty="0"/>
                </a:p>
              </p:txBody>
            </p:sp>
            <p:sp>
              <p:nvSpPr>
                <p:cNvPr id="31" name="TextBox 30"/>
                <p:cNvSpPr txBox="1"/>
                <p:nvPr/>
              </p:nvSpPr>
              <p:spPr>
                <a:xfrm>
                  <a:off x="6705600" y="3886200"/>
                  <a:ext cx="228600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dirty="0" smtClean="0"/>
                    <a:t>a</a:t>
                  </a:r>
                  <a:endParaRPr lang="en-US" dirty="0"/>
                </a:p>
              </p:txBody>
            </p:sp>
          </p:grpSp>
          <p:sp>
            <p:nvSpPr>
              <p:cNvPr id="26" name="Isosceles Triangle 25"/>
              <p:cNvSpPr/>
              <p:nvPr/>
            </p:nvSpPr>
            <p:spPr>
              <a:xfrm>
                <a:off x="7048500" y="3505201"/>
                <a:ext cx="1562100" cy="1295400"/>
              </a:xfrm>
              <a:prstGeom prst="triangle">
                <a:avLst/>
              </a:prstGeom>
              <a:noFill/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 w="18415" cmpd="sng">
                    <a:solidFill>
                      <a:schemeClr val="tx1"/>
                    </a:solidFill>
                    <a:prstDash val="solid"/>
                  </a:ln>
                  <a:solidFill>
                    <a:schemeClr val="bg1"/>
                  </a:solidFill>
                  <a:effectLst>
                    <a:outerShdw blurRad="63500" dir="3600000" algn="tl" rotWithShape="0">
                      <a:srgbClr val="000000">
                        <a:alpha val="70000"/>
                      </a:srgbClr>
                    </a:outerShdw>
                  </a:effectLst>
                </a:endParaRPr>
              </a:p>
            </p:txBody>
          </p:sp>
          <p:sp>
            <p:nvSpPr>
              <p:cNvPr id="27" name="Isosceles Triangle 26"/>
              <p:cNvSpPr/>
              <p:nvPr/>
            </p:nvSpPr>
            <p:spPr>
              <a:xfrm flipV="1">
                <a:off x="7048500" y="4800600"/>
                <a:ext cx="1562100" cy="1295400"/>
              </a:xfrm>
              <a:prstGeom prst="triangle">
                <a:avLst/>
              </a:prstGeom>
              <a:noFill/>
              <a:ln>
                <a:solidFill>
                  <a:schemeClr val="tx1"/>
                </a:solidFill>
                <a:prstDash val="sysDash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ln w="18415" cmpd="sng">
                    <a:solidFill>
                      <a:schemeClr val="tx1"/>
                    </a:solidFill>
                    <a:prstDash val="solid"/>
                  </a:ln>
                  <a:solidFill>
                    <a:schemeClr val="bg1"/>
                  </a:solidFill>
                  <a:effectLst>
                    <a:outerShdw blurRad="63500" dir="3600000" algn="tl" rotWithShape="0">
                      <a:srgbClr val="000000">
                        <a:alpha val="70000"/>
                      </a:srgbClr>
                    </a:outerShdw>
                  </a:effectLst>
                </a:endParaRPr>
              </a:p>
            </p:txBody>
          </p:sp>
        </p:grpSp>
        <p:sp>
          <p:nvSpPr>
            <p:cNvPr id="37" name="Rectangle 36"/>
            <p:cNvSpPr/>
            <p:nvPr/>
          </p:nvSpPr>
          <p:spPr>
            <a:xfrm>
              <a:off x="5890364" y="-18018"/>
              <a:ext cx="447558" cy="36933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dirty="0" smtClean="0"/>
                <a:t>(b)</a:t>
              </a:r>
              <a:endParaRPr lang="en-US" dirty="0"/>
            </a:p>
          </p:txBody>
        </p:sp>
      </p:grpSp>
      <p:sp>
        <p:nvSpPr>
          <p:cNvPr id="41" name="TextBox 40"/>
          <p:cNvSpPr txBox="1"/>
          <p:nvPr/>
        </p:nvSpPr>
        <p:spPr>
          <a:xfrm>
            <a:off x="609600" y="5755164"/>
            <a:ext cx="8229600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dirty="0" smtClean="0">
                <a:latin typeface="Arial" pitchFamily="34" charset="0"/>
                <a:cs typeface="Arial" pitchFamily="34" charset="0"/>
              </a:rPr>
              <a:t>Fig(2):</a:t>
            </a:r>
            <a:r>
              <a:rPr lang="en-US" sz="1400" dirty="0" smtClean="0">
                <a:latin typeface="Arial" pitchFamily="34" charset="0"/>
                <a:cs typeface="Arial" pitchFamily="34" charset="0"/>
              </a:rPr>
              <a:t> </a:t>
            </a:r>
            <a:r>
              <a:rPr lang="en-US" sz="1400" b="1" dirty="0" smtClean="0"/>
              <a:t>LDOS of hexagonal lattice with circular scatters</a:t>
            </a:r>
            <a:r>
              <a:rPr lang="en-US" sz="1400" dirty="0">
                <a:latin typeface="Arial" pitchFamily="34" charset="0"/>
                <a:cs typeface="Arial" pitchFamily="34" charset="0"/>
              </a:rPr>
              <a:t> </a:t>
            </a:r>
            <a:r>
              <a:rPr lang="en-US" sz="1400" dirty="0" smtClean="0">
                <a:latin typeface="Arial" pitchFamily="34" charset="0"/>
                <a:cs typeface="Arial" pitchFamily="34" charset="0"/>
              </a:rPr>
              <a:t>– (a) </a:t>
            </a:r>
            <a:r>
              <a:rPr lang="en-US" sz="1400" dirty="0" smtClean="0"/>
              <a:t>The local density of states (LDOS) calculated by EPWE for three points in the unit cell, as shown in (b). (</a:t>
            </a:r>
            <a:r>
              <a:rPr lang="en-US" sz="1400" dirty="0" err="1" smtClean="0"/>
              <a:t>c,d</a:t>
            </a:r>
            <a:r>
              <a:rPr lang="en-US" sz="1400" dirty="0" smtClean="0"/>
              <a:t>) The 2D-LDOS taken at 240 meV and 338 meV.</a:t>
            </a:r>
            <a:br>
              <a:rPr lang="en-US" sz="1400" dirty="0" smtClean="0"/>
            </a:br>
            <a:endParaRPr lang="en-US" sz="1400" dirty="0">
              <a:latin typeface="Arial" pitchFamily="34" charset="0"/>
              <a:cs typeface="Arial" pitchFamily="34" charset="0"/>
            </a:endParaRPr>
          </a:p>
        </p:txBody>
      </p:sp>
      <p:grpSp>
        <p:nvGrpSpPr>
          <p:cNvPr id="34" name="Group 33"/>
          <p:cNvGrpSpPr/>
          <p:nvPr/>
        </p:nvGrpSpPr>
        <p:grpSpPr>
          <a:xfrm>
            <a:off x="2510512" y="2971800"/>
            <a:ext cx="4804688" cy="2743200"/>
            <a:chOff x="2510512" y="2971800"/>
            <a:chExt cx="4804688" cy="2743200"/>
          </a:xfrm>
        </p:grpSpPr>
        <p:pic>
          <p:nvPicPr>
            <p:cNvPr id="3082" name="Picture 10"/>
            <p:cNvPicPr>
              <a:picLocks noChangeAspect="1" noChangeArrowheads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510512" y="3317067"/>
              <a:ext cx="2594888" cy="2397933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pic>
          <p:nvPicPr>
            <p:cNvPr id="3083" name="Picture 11"/>
            <p:cNvPicPr>
              <a:picLocks noChangeAspect="1" noChangeArrowheads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5029200" y="3276600"/>
              <a:ext cx="2286000" cy="2239919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48" name="TextBox 47"/>
            <p:cNvSpPr txBox="1"/>
            <p:nvPr/>
          </p:nvSpPr>
          <p:spPr>
            <a:xfrm>
              <a:off x="2543780" y="2971800"/>
              <a:ext cx="6286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smtClean="0">
                  <a:latin typeface="Baskerville Old Face" pitchFamily="18" charset="0"/>
                  <a:cs typeface="Arial" pitchFamily="34" charset="0"/>
                </a:rPr>
                <a:t>(c)</a:t>
              </a:r>
              <a:endParaRPr lang="en-US" dirty="0">
                <a:latin typeface="Baskerville Old Face" pitchFamily="18" charset="0"/>
                <a:cs typeface="Arial" pitchFamily="34" charset="0"/>
              </a:endParaRPr>
            </a:p>
          </p:txBody>
        </p:sp>
        <p:sp>
          <p:nvSpPr>
            <p:cNvPr id="49" name="TextBox 48"/>
            <p:cNvSpPr txBox="1"/>
            <p:nvPr/>
          </p:nvSpPr>
          <p:spPr>
            <a:xfrm>
              <a:off x="3381980" y="3002578"/>
              <a:ext cx="9144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 smtClean="0">
                  <a:latin typeface="Baskerville Old Face" pitchFamily="18" charset="0"/>
                  <a:cs typeface="Arial" pitchFamily="34" charset="0"/>
                </a:rPr>
                <a:t>240 meV</a:t>
              </a:r>
              <a:endParaRPr lang="en-US" sz="1400" dirty="0">
                <a:latin typeface="Baskerville Old Face" pitchFamily="18" charset="0"/>
                <a:cs typeface="Arial" pitchFamily="34" charset="0"/>
              </a:endParaRPr>
            </a:p>
          </p:txBody>
        </p:sp>
        <p:sp>
          <p:nvSpPr>
            <p:cNvPr id="50" name="TextBox 49"/>
            <p:cNvSpPr txBox="1"/>
            <p:nvPr/>
          </p:nvSpPr>
          <p:spPr>
            <a:xfrm>
              <a:off x="4953000" y="2971800"/>
              <a:ext cx="6286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 smtClean="0">
                  <a:latin typeface="Baskerville Old Face" pitchFamily="18" charset="0"/>
                  <a:cs typeface="Arial" pitchFamily="34" charset="0"/>
                </a:rPr>
                <a:t>(d)</a:t>
              </a:r>
              <a:endParaRPr lang="en-US" dirty="0">
                <a:latin typeface="Baskerville Old Face" pitchFamily="18" charset="0"/>
                <a:cs typeface="Arial" pitchFamily="34" charset="0"/>
              </a:endParaRPr>
            </a:p>
          </p:txBody>
        </p:sp>
        <p:sp>
          <p:nvSpPr>
            <p:cNvPr id="51" name="TextBox 50"/>
            <p:cNvSpPr txBox="1"/>
            <p:nvPr/>
          </p:nvSpPr>
          <p:spPr>
            <a:xfrm>
              <a:off x="5715000" y="3002578"/>
              <a:ext cx="914400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 smtClean="0">
                  <a:latin typeface="Baskerville Old Face" pitchFamily="18" charset="0"/>
                  <a:cs typeface="Arial" pitchFamily="34" charset="0"/>
                </a:rPr>
                <a:t>338 meV</a:t>
              </a:r>
              <a:endParaRPr lang="en-US" sz="1400" dirty="0">
                <a:latin typeface="Baskerville Old Face" pitchFamily="18" charset="0"/>
                <a:cs typeface="Arial" pitchFamily="34" charset="0"/>
              </a:endParaRPr>
            </a:p>
          </p:txBody>
        </p:sp>
      </p:grpSp>
      <p:pic>
        <p:nvPicPr>
          <p:cNvPr id="3084" name="Picture 12"/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96452" y="3558359"/>
            <a:ext cx="447675" cy="16764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331884763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3" name="Picture 3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15000" y="612615"/>
            <a:ext cx="3775206" cy="363303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7650" name="Group 7649"/>
          <p:cNvGrpSpPr/>
          <p:nvPr/>
        </p:nvGrpSpPr>
        <p:grpSpPr>
          <a:xfrm>
            <a:off x="241842" y="-29617"/>
            <a:ext cx="5092158" cy="4917499"/>
            <a:chOff x="279061" y="1143000"/>
            <a:chExt cx="3416047" cy="3298878"/>
          </a:xfrm>
        </p:grpSpPr>
        <p:grpSp>
          <p:nvGrpSpPr>
            <p:cNvPr id="7642" name="Group 7641"/>
            <p:cNvGrpSpPr/>
            <p:nvPr/>
          </p:nvGrpSpPr>
          <p:grpSpPr>
            <a:xfrm>
              <a:off x="533400" y="1546789"/>
              <a:ext cx="3161708" cy="2719814"/>
              <a:chOff x="2217023" y="958850"/>
              <a:chExt cx="5741115" cy="4938713"/>
            </a:xfrm>
          </p:grpSpPr>
          <p:pic>
            <p:nvPicPr>
              <p:cNvPr id="7685" name="Picture 2565"/>
              <p:cNvPicPr>
                <a:picLocks noChangeAspect="1" noChangeArrowheads="1"/>
              </p:cNvPicPr>
              <p:nvPr/>
            </p:nvPicPr>
            <p:blipFill rotWithShape="1"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4478"/>
              <a:stretch/>
            </p:blipFill>
            <p:spPr bwMode="auto">
              <a:xfrm>
                <a:off x="2217023" y="958850"/>
                <a:ext cx="5741115" cy="493871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  <p:pic>
            <p:nvPicPr>
              <p:cNvPr id="7686" name="Picture 2566"/>
              <p:cNvPicPr>
                <a:picLocks noChangeAspect="1" noChangeArrowheads="1"/>
              </p:cNvPicPr>
              <p:nvPr/>
            </p:nvPicPr>
            <p:blipFill rotWithShape="1"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2552" t="15256" r="935" b="28718"/>
              <a:stretch/>
            </p:blipFill>
            <p:spPr bwMode="auto">
              <a:xfrm>
                <a:off x="2720340" y="1728844"/>
                <a:ext cx="5199697" cy="2766956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</p:pic>
        </p:grpSp>
        <p:grpSp>
          <p:nvGrpSpPr>
            <p:cNvPr id="9" name="Group 8"/>
            <p:cNvGrpSpPr/>
            <p:nvPr/>
          </p:nvGrpSpPr>
          <p:grpSpPr>
            <a:xfrm>
              <a:off x="304800" y="1143000"/>
              <a:ext cx="3265178" cy="3298878"/>
              <a:chOff x="399690" y="-705120"/>
              <a:chExt cx="3265178" cy="2998978"/>
            </a:xfrm>
          </p:grpSpPr>
          <p:sp>
            <p:nvSpPr>
              <p:cNvPr id="18" name="TextBox 17"/>
              <p:cNvSpPr txBox="1"/>
              <p:nvPr/>
            </p:nvSpPr>
            <p:spPr>
              <a:xfrm flipH="1">
                <a:off x="399690" y="-705120"/>
                <a:ext cx="60960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 smtClean="0">
                    <a:latin typeface="Arial" pitchFamily="34" charset="0"/>
                    <a:cs typeface="Arial" pitchFamily="34" charset="0"/>
                  </a:rPr>
                  <a:t>(a)</a:t>
                </a:r>
                <a:endParaRPr lang="en-US" dirty="0">
                  <a:latin typeface="Arial" pitchFamily="34" charset="0"/>
                  <a:cs typeface="Arial" pitchFamily="34" charset="0"/>
                </a:endParaRPr>
              </a:p>
            </p:txBody>
          </p:sp>
          <p:grpSp>
            <p:nvGrpSpPr>
              <p:cNvPr id="19" name="Group 18"/>
              <p:cNvGrpSpPr/>
              <p:nvPr/>
            </p:nvGrpSpPr>
            <p:grpSpPr>
              <a:xfrm>
                <a:off x="762000" y="-460492"/>
                <a:ext cx="2902868" cy="2754350"/>
                <a:chOff x="762000" y="-460492"/>
                <a:chExt cx="2902868" cy="2754350"/>
              </a:xfrm>
            </p:grpSpPr>
            <p:cxnSp>
              <p:nvCxnSpPr>
                <p:cNvPr id="20" name="Straight Connector 19"/>
                <p:cNvCxnSpPr/>
                <p:nvPr/>
              </p:nvCxnSpPr>
              <p:spPr>
                <a:xfrm>
                  <a:off x="912019" y="-246180"/>
                  <a:ext cx="2669381" cy="0"/>
                </a:xfrm>
                <a:prstGeom prst="line">
                  <a:avLst/>
                </a:prstGeom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1" name="TextBox 20"/>
                    <p:cNvSpPr txBox="1"/>
                    <p:nvPr/>
                  </p:nvSpPr>
                  <p:spPr>
                    <a:xfrm>
                      <a:off x="762000" y="-460492"/>
                      <a:ext cx="383381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acc>
                              <m:accPr>
                                <m:chr m:val="̅"/>
                                <m:ctrlPr>
                                  <a:rPr lang="el-GR" sz="1100" i="1" dirty="0" smtClean="0">
                                    <a:latin typeface="Cambria Math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l-GR" sz="1100" i="0" dirty="0" smtClean="0">
                                    <a:latin typeface="Cambria Math"/>
                                  </a:rPr>
                                  <m:t>Γ</m:t>
                                </m:r>
                              </m:e>
                            </m:acc>
                          </m:oMath>
                        </m:oMathPara>
                      </a14:m>
                      <a:endParaRPr lang="en-US" sz="1100" dirty="0"/>
                    </a:p>
                  </p:txBody>
                </p:sp>
              </mc:Choice>
              <mc:Fallback>
                <p:sp>
                  <p:nvSpPr>
                    <p:cNvPr id="21" name="TextBox 20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62000" y="-460492"/>
                      <a:ext cx="383381" cy="261610"/>
                    </a:xfrm>
                    <a:prstGeom prst="rect">
                      <a:avLst/>
                    </a:prstGeom>
                    <a:blipFill rotWithShape="1">
                      <a:blip r:embed="rId5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2" name="TextBox 21"/>
                    <p:cNvSpPr txBox="1"/>
                    <p:nvPr/>
                  </p:nvSpPr>
                  <p:spPr>
                    <a:xfrm>
                      <a:off x="1600200" y="-460492"/>
                      <a:ext cx="383381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acc>
                              <m:accPr>
                                <m:chr m:val="̅"/>
                                <m:ctrlPr>
                                  <a:rPr lang="el-GR" sz="1100" i="1" dirty="0" smtClean="0">
                                    <a:latin typeface="Cambria Math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sz="1100" b="0" i="0" dirty="0" smtClean="0">
                                    <a:latin typeface="Cambria Math"/>
                                  </a:rPr>
                                  <m:t>M</m:t>
                                </m:r>
                              </m:e>
                            </m:acc>
                          </m:oMath>
                        </m:oMathPara>
                      </a14:m>
                      <a:endParaRPr lang="en-US" sz="1100" dirty="0"/>
                    </a:p>
                  </p:txBody>
                </p:sp>
              </mc:Choice>
              <mc:Fallback>
                <p:sp>
                  <p:nvSpPr>
                    <p:cNvPr id="22" name="TextBox 21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600200" y="-460492"/>
                      <a:ext cx="383381" cy="261610"/>
                    </a:xfrm>
                    <a:prstGeom prst="rect">
                      <a:avLst/>
                    </a:prstGeom>
                    <a:blipFill rotWithShape="1">
                      <a:blip r:embed="rId6"/>
                      <a:stretch>
                        <a:fillRect r="-1075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3" name="TextBox 22"/>
                    <p:cNvSpPr txBox="1"/>
                    <p:nvPr/>
                  </p:nvSpPr>
                  <p:spPr>
                    <a:xfrm>
                      <a:off x="2286000" y="-460492"/>
                      <a:ext cx="383381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acc>
                              <m:accPr>
                                <m:chr m:val="̅"/>
                                <m:ctrlPr>
                                  <a:rPr lang="el-GR" sz="1100" i="1" dirty="0" smtClean="0">
                                    <a:latin typeface="Cambria Math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n-US" sz="1100" b="0" i="0" dirty="0" smtClean="0">
                                    <a:latin typeface="Cambria Math"/>
                                  </a:rPr>
                                  <m:t>K</m:t>
                                </m:r>
                              </m:e>
                            </m:acc>
                          </m:oMath>
                        </m:oMathPara>
                      </a14:m>
                      <a:endParaRPr lang="en-US" sz="1100" dirty="0"/>
                    </a:p>
                  </p:txBody>
                </p:sp>
              </mc:Choice>
              <mc:Fallback>
                <p:sp>
                  <p:nvSpPr>
                    <p:cNvPr id="23" name="TextBox 22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2286000" y="-460492"/>
                      <a:ext cx="383381" cy="261610"/>
                    </a:xfrm>
                    <a:prstGeom prst="rect">
                      <a:avLst/>
                    </a:prstGeom>
                    <a:blipFill rotWithShape="1">
                      <a:blip r:embed="rId7"/>
                      <a:stretch>
                        <a:fillRect r="-212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4" name="TextBox 23"/>
                    <p:cNvSpPr txBox="1"/>
                    <p:nvPr/>
                  </p:nvSpPr>
                  <p:spPr>
                    <a:xfrm>
                      <a:off x="3281487" y="-460327"/>
                      <a:ext cx="383381" cy="261610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acc>
                              <m:accPr>
                                <m:chr m:val="̅"/>
                                <m:ctrlPr>
                                  <a:rPr lang="el-GR" sz="1100" i="1" dirty="0" smtClean="0">
                                    <a:latin typeface="Cambria Math"/>
                                  </a:rPr>
                                </m:ctrlPr>
                              </m:accPr>
                              <m:e>
                                <m:r>
                                  <m:rPr>
                                    <m:sty m:val="p"/>
                                  </m:rPr>
                                  <a:rPr lang="el-GR" sz="1100" i="0" dirty="0" smtClean="0">
                                    <a:latin typeface="Cambria Math"/>
                                  </a:rPr>
                                  <m:t>Γ</m:t>
                                </m:r>
                              </m:e>
                            </m:acc>
                          </m:oMath>
                        </m:oMathPara>
                      </a14:m>
                      <a:endParaRPr lang="en-US" sz="1100" dirty="0"/>
                    </a:p>
                  </p:txBody>
                </p:sp>
              </mc:Choice>
              <mc:Fallback>
                <p:sp>
                  <p:nvSpPr>
                    <p:cNvPr id="24" name="TextBox 23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281487" y="-460327"/>
                      <a:ext cx="383381" cy="261610"/>
                    </a:xfrm>
                    <a:prstGeom prst="rect">
                      <a:avLst/>
                    </a:prstGeom>
                    <a:blipFill rotWithShape="1">
                      <a:blip r:embed="rId8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>
              <mc:Choice xmlns:a14="http://schemas.microsoft.com/office/drawing/2010/main" Requires="a14">
                <p:sp>
                  <p:nvSpPr>
                    <p:cNvPr id="25" name="TextBox 24"/>
                    <p:cNvSpPr txBox="1"/>
                    <p:nvPr/>
                  </p:nvSpPr>
                  <p:spPr>
                    <a:xfrm>
                      <a:off x="1771289" y="1996515"/>
                      <a:ext cx="898091" cy="297343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sz="1400" b="0" i="1" smtClean="0">
                                  <a:latin typeface="Cambria Math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latin typeface="Cambria Math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 sz="1400" b="0" i="1" smtClean="0">
                                  <a:latin typeface="Cambria Math"/>
                                </a:rPr>
                                <m:t>||</m:t>
                              </m:r>
                            </m:sub>
                          </m:sSub>
                        </m:oMath>
                      </a14:m>
                      <a:r>
                        <a:rPr lang="en-US" sz="1400" dirty="0" smtClean="0"/>
                        <a:t>(</a:t>
                      </a:r>
                      <a14:m>
                        <m:oMath xmlns:m="http://schemas.openxmlformats.org/officeDocument/2006/math">
                          <m:sSup>
                            <m:sSupPr>
                              <m:ctrlPr>
                                <a:rPr lang="en-US" sz="1400" i="1" dirty="0" smtClean="0">
                                  <a:latin typeface="Cambria Math"/>
                                </a:rPr>
                              </m:ctrlPr>
                            </m:sSupPr>
                            <m:e>
                              <m:r>
                                <a:rPr lang="en-US" sz="1400" b="0" i="1" dirty="0" smtClean="0">
                                  <a:latin typeface="Cambria Math"/>
                                </a:rPr>
                                <m:t>𝐴</m:t>
                              </m:r>
                            </m:e>
                            <m:sup>
                              <m:r>
                                <a:rPr lang="en-US" sz="1400" b="0" i="1" dirty="0" smtClean="0">
                                  <a:latin typeface="Cambria Math"/>
                                </a:rPr>
                                <m:t>−1</m:t>
                              </m:r>
                            </m:sup>
                          </m:sSup>
                        </m:oMath>
                      </a14:m>
                      <a:r>
                        <a:rPr lang="en-US" sz="1400" dirty="0" smtClean="0"/>
                        <a:t>)</a:t>
                      </a:r>
                      <a:endParaRPr lang="en-US" sz="1400" dirty="0"/>
                    </a:p>
                  </p:txBody>
                </p:sp>
              </mc:Choice>
              <mc:Fallback>
                <p:sp>
                  <p:nvSpPr>
                    <p:cNvPr id="25" name="TextBox 24"/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771289" y="1996515"/>
                      <a:ext cx="898091" cy="297343"/>
                    </a:xfrm>
                    <a:prstGeom prst="rect">
                      <a:avLst/>
                    </a:prstGeom>
                    <a:blipFill rotWithShape="1">
                      <a:blip r:embed="rId9"/>
                      <a:stretch>
                        <a:fillRect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</p:grpSp>
        <p:cxnSp>
          <p:nvCxnSpPr>
            <p:cNvPr id="7644" name="Straight Connector 7643"/>
            <p:cNvCxnSpPr/>
            <p:nvPr/>
          </p:nvCxnSpPr>
          <p:spPr>
            <a:xfrm>
              <a:off x="1752600" y="1647833"/>
              <a:ext cx="0" cy="2338377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95" name="Straight Connector 2594"/>
            <p:cNvCxnSpPr/>
            <p:nvPr/>
          </p:nvCxnSpPr>
          <p:spPr>
            <a:xfrm>
              <a:off x="2438400" y="1654984"/>
              <a:ext cx="0" cy="2338377"/>
            </a:xfrm>
            <a:prstGeom prst="line">
              <a:avLst/>
            </a:prstGeom>
            <a:ln w="19050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649" name="Rectangle 7648"/>
            <p:cNvSpPr/>
            <p:nvPr/>
          </p:nvSpPr>
          <p:spPr>
            <a:xfrm rot="16200000">
              <a:off x="-359620" y="2588891"/>
              <a:ext cx="1545774" cy="268412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en-US" sz="2000" dirty="0" smtClean="0"/>
                <a:t>Electron Energy (</a:t>
              </a:r>
              <a:r>
                <a:rPr lang="en-US" sz="2000" dirty="0" err="1" smtClean="0"/>
                <a:t>eV</a:t>
              </a:r>
              <a:r>
                <a:rPr lang="en-US" sz="2000" dirty="0" smtClean="0"/>
                <a:t>)</a:t>
              </a:r>
              <a:endParaRPr lang="en-US" sz="2000" dirty="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598" name="TextBox 2597"/>
              <p:cNvSpPr txBox="1"/>
              <p:nvPr/>
            </p:nvSpPr>
            <p:spPr>
              <a:xfrm>
                <a:off x="609600" y="5107349"/>
                <a:ext cx="8229600" cy="116955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400" b="1" dirty="0" smtClean="0">
                    <a:latin typeface="Arial" pitchFamily="34" charset="0"/>
                    <a:cs typeface="Arial" pitchFamily="34" charset="0"/>
                  </a:rPr>
                  <a:t>Fig(3):</a:t>
                </a:r>
                <a:r>
                  <a:rPr lang="en-US" sz="1400" dirty="0" smtClean="0">
                    <a:latin typeface="Arial" pitchFamily="34" charset="0"/>
                    <a:cs typeface="Arial" pitchFamily="34" charset="0"/>
                  </a:rPr>
                  <a:t> </a:t>
                </a:r>
                <a:r>
                  <a:rPr lang="en-US" sz="1400" b="1" dirty="0" smtClean="0"/>
                  <a:t>Effect of </a:t>
                </a:r>
                <a:r>
                  <a:rPr lang="en-US" sz="1400" b="1" dirty="0"/>
                  <a:t>P</a:t>
                </a:r>
                <a:r>
                  <a:rPr lang="en-US" sz="1400" b="1" dirty="0" smtClean="0"/>
                  <a:t>eriodic Potential on the hexagonal Electronic Structure </a:t>
                </a:r>
                <a:br>
                  <a:rPr lang="en-US" sz="1400" b="1" dirty="0" smtClean="0"/>
                </a:br>
                <a:r>
                  <a:rPr lang="en-US" sz="1400" dirty="0" smtClean="0">
                    <a:latin typeface="Arial" pitchFamily="34" charset="0"/>
                    <a:cs typeface="Arial" pitchFamily="34" charset="0"/>
                  </a:rPr>
                  <a:t>(a) </a:t>
                </a:r>
                <a:r>
                  <a:rPr lang="en-US" sz="1400" dirty="0" smtClean="0"/>
                  <a:t>Calculated band structures using EPWE for two hexagonal metallic super lattices of different potential barrier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latin typeface="Cambria Math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/>
                          </a:rPr>
                          <m:t>𝑉</m:t>
                        </m:r>
                      </m:e>
                      <m:sub>
                        <m:r>
                          <a:rPr lang="en-US" sz="1400" b="0" i="1" smtClean="0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400" dirty="0" smtClean="0"/>
                  <a:t>, along the </a:t>
                </a:r>
                <a14:m>
                  <m:oMath xmlns:m="http://schemas.openxmlformats.org/officeDocument/2006/math">
                    <m:acc>
                      <m:accPr>
                        <m:chr m:val="̅"/>
                        <m:ctrlPr>
                          <a:rPr lang="en-US" sz="1400" b="0" i="1" smtClean="0">
                            <a:latin typeface="Cambria Math"/>
                            <a:cs typeface="Arial" pitchFamily="34" charset="0"/>
                          </a:rPr>
                        </m:ctrlPr>
                      </m:accPr>
                      <m:e>
                        <m:r>
                          <m:rPr>
                            <m:nor/>
                          </m:rPr>
                          <a:rPr lang="el-GR" sz="1400" dirty="0" smtClean="0">
                            <a:latin typeface="Arial" pitchFamily="34" charset="0"/>
                            <a:cs typeface="Arial" pitchFamily="34" charset="0"/>
                          </a:rPr>
                          <m:t>Γ</m:t>
                        </m:r>
                        <m:r>
                          <m:rPr>
                            <m:nor/>
                          </m:rPr>
                          <a:rPr lang="en-US" sz="1400" dirty="0" smtClean="0">
                            <a:latin typeface="Arial" pitchFamily="34" charset="0"/>
                            <a:cs typeface="Arial" pitchFamily="34" charset="0"/>
                          </a:rPr>
                          <m:t>MK</m:t>
                        </m:r>
                        <m:r>
                          <m:rPr>
                            <m:nor/>
                          </m:rPr>
                          <a:rPr lang="el-GR" sz="1400" dirty="0" smtClean="0">
                            <a:latin typeface="Arial" pitchFamily="34" charset="0"/>
                            <a:cs typeface="Arial" pitchFamily="34" charset="0"/>
                          </a:rPr>
                          <m:t>Γ</m:t>
                        </m:r>
                      </m:e>
                    </m:acc>
                  </m:oMath>
                </a14:m>
                <a:r>
                  <a:rPr lang="en-US" sz="1400" dirty="0" smtClean="0"/>
                  <a:t> directions. All calculation parameters were the same in the two cases, except  that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latin typeface="Cambria Math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/>
                          </a:rPr>
                          <m:t>𝑉</m:t>
                        </m:r>
                      </m:e>
                      <m:sub>
                        <m:r>
                          <a:rPr lang="en-US" sz="1400" b="0" i="1" smtClean="0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400" dirty="0" smtClean="0"/>
                  <a:t> is changed from 700 meV (black band) to 30 </a:t>
                </a:r>
                <a:r>
                  <a:rPr lang="en-US" sz="1400" dirty="0" err="1" smtClean="0"/>
                  <a:t>eV</a:t>
                </a:r>
                <a:r>
                  <a:rPr lang="en-US" sz="1400" dirty="0" smtClean="0"/>
                  <a:t> (red band).</a:t>
                </a:r>
                <a:br>
                  <a:rPr lang="en-US" sz="1400" dirty="0" smtClean="0"/>
                </a:br>
                <a:r>
                  <a:rPr lang="en-US" sz="1400" dirty="0" smtClean="0"/>
                  <a:t>(b) The </a:t>
                </a:r>
                <a:r>
                  <a:rPr lang="el-GR" sz="1400" dirty="0" smtClean="0"/>
                  <a:t>Γ-</a:t>
                </a:r>
                <a:r>
                  <a:rPr lang="en-US" sz="1400" dirty="0" smtClean="0"/>
                  <a:t>point energy (red) and M-gap size (blue) as a function of the base potential barrier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smtClean="0">
                            <a:latin typeface="Cambria Math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latin typeface="Cambria Math"/>
                          </a:rPr>
                          <m:t>𝑉</m:t>
                        </m:r>
                      </m:e>
                      <m:sub>
                        <m:r>
                          <a:rPr lang="en-US" sz="1400" b="0" i="1" smtClean="0">
                            <a:latin typeface="Cambria Math"/>
                          </a:rPr>
                          <m:t>1</m:t>
                        </m:r>
                      </m:sub>
                    </m:sSub>
                  </m:oMath>
                </a14:m>
                <a:endParaRPr lang="en-US" sz="1400" dirty="0">
                  <a:latin typeface="Arial" pitchFamily="34" charset="0"/>
                  <a:cs typeface="Arial" pitchFamily="34" charset="0"/>
                </a:endParaRPr>
              </a:p>
            </p:txBody>
          </p:sp>
        </mc:Choice>
        <mc:Fallback>
          <p:sp>
            <p:nvSpPr>
              <p:cNvPr id="2598" name="TextBox 259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" y="5107349"/>
                <a:ext cx="8229600" cy="1169551"/>
              </a:xfrm>
              <a:prstGeom prst="rect">
                <a:avLst/>
              </a:prstGeom>
              <a:blipFill rotWithShape="1">
                <a:blip r:embed="rId10"/>
                <a:stretch>
                  <a:fillRect l="-148" t="-521" b="-52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275239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2146</TotalTime>
  <Words>173</Words>
  <Application>Microsoft Office PowerPoint</Application>
  <PresentationFormat>A4 Paper (210x297 mm)</PresentationFormat>
  <Paragraphs>37</Paragraphs>
  <Slides>4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5" baseType="lpstr">
      <vt:lpstr>Office Theme</vt:lpstr>
      <vt:lpstr>Final data for hexagonal lattce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Final data for hexagonal lattce</dc:title>
  <dc:creator>Abdulrahman Ahmed M.Bahget</dc:creator>
  <cp:lastModifiedBy>Abdulrahman Ahmed M.Bahget</cp:lastModifiedBy>
  <cp:revision>27</cp:revision>
  <dcterms:created xsi:type="dcterms:W3CDTF">2026-03-02T12:41:53Z</dcterms:created>
  <dcterms:modified xsi:type="dcterms:W3CDTF">2026-03-04T00:28:31Z</dcterms:modified>
</cp:coreProperties>
</file>