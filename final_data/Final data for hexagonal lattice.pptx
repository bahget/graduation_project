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-1794" y="-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1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8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6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1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5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0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4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40"/>
            <a:ext cx="24145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6" y="274640"/>
            <a:ext cx="707866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A82ED-DC87-4BE2-B32E-E394FD110A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003AA-301F-4BD3-9F01-01607362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emf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emf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emf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27500" y="2609851"/>
            <a:ext cx="54483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Final data for hexagonal </a:t>
            </a:r>
            <a:r>
              <a:rPr lang="en-US" dirty="0" err="1" smtClean="0"/>
              <a:t>lattce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1143000"/>
            <a:ext cx="4787900" cy="488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237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"/>
          <a:stretch/>
        </p:blipFill>
        <p:spPr bwMode="auto">
          <a:xfrm>
            <a:off x="3438525" y="0"/>
            <a:ext cx="319087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5" name="Group 34"/>
          <p:cNvGrpSpPr/>
          <p:nvPr/>
        </p:nvGrpSpPr>
        <p:grpSpPr>
          <a:xfrm>
            <a:off x="3021149" y="-25265"/>
            <a:ext cx="4155937" cy="3167633"/>
            <a:chOff x="152400" y="103191"/>
            <a:chExt cx="4155937" cy="2879661"/>
          </a:xfrm>
        </p:grpSpPr>
        <p:grpSp>
          <p:nvGrpSpPr>
            <p:cNvPr id="21" name="Group 20"/>
            <p:cNvGrpSpPr/>
            <p:nvPr/>
          </p:nvGrpSpPr>
          <p:grpSpPr>
            <a:xfrm>
              <a:off x="152400" y="103191"/>
              <a:ext cx="3512468" cy="2879661"/>
              <a:chOff x="152400" y="103191"/>
              <a:chExt cx="3512468" cy="2879661"/>
            </a:xfrm>
          </p:grpSpPr>
          <p:sp>
            <p:nvSpPr>
              <p:cNvPr id="4" name="TextBox 3"/>
              <p:cNvSpPr txBox="1"/>
              <p:nvPr/>
            </p:nvSpPr>
            <p:spPr>
              <a:xfrm flipH="1">
                <a:off x="152400" y="1031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(a)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762000" y="112296"/>
                <a:ext cx="2902868" cy="2870556"/>
                <a:chOff x="762000" y="112296"/>
                <a:chExt cx="2902868" cy="2870556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912019" y="292895"/>
                  <a:ext cx="266938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/>
                    <p:cNvSpPr txBox="1"/>
                    <p:nvPr/>
                  </p:nvSpPr>
                  <p:spPr>
                    <a:xfrm>
                      <a:off x="7620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2" name="TextBox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0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16002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M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4" name="TextBox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02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2286000" y="112296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K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8" name="TextBox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000" y="112296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3281487" y="112460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19" name="TextBox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1487" y="112460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1901871" y="2689245"/>
                      <a:ext cx="689676" cy="2936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/>
                                </a:rPr>
                                <m:t>||</m:t>
                              </m:r>
                            </m:sub>
                          </m:sSub>
                        </m:oMath>
                      </a14:m>
                      <a:r>
                        <a:rPr lang="en-US" sz="1200" dirty="0" smtClean="0"/>
                        <a:t>(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oMath>
                      </a14:m>
                      <a:r>
                        <a:rPr lang="en-US" sz="1200" dirty="0" smtClean="0"/>
                        <a:t>)</a:t>
                      </a:r>
                      <a:endParaRPr lang="en-US" sz="1200" dirty="0"/>
                    </a:p>
                  </p:txBody>
                </p:sp>
              </mc:Choice>
              <mc:Fallback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1871" y="2689245"/>
                      <a:ext cx="689676" cy="293607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b="-1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4" name="Group 33"/>
            <p:cNvGrpSpPr/>
            <p:nvPr/>
          </p:nvGrpSpPr>
          <p:grpSpPr>
            <a:xfrm>
              <a:off x="3379651" y="1038903"/>
              <a:ext cx="928686" cy="680526"/>
              <a:chOff x="5095218" y="1417773"/>
              <a:chExt cx="928686" cy="680526"/>
            </a:xfrm>
          </p:grpSpPr>
          <p:sp>
            <p:nvSpPr>
              <p:cNvPr id="22" name="Hexagon 21"/>
              <p:cNvSpPr/>
              <p:nvPr/>
            </p:nvSpPr>
            <p:spPr>
              <a:xfrm>
                <a:off x="5095218" y="1439202"/>
                <a:ext cx="800517" cy="659097"/>
              </a:xfrm>
              <a:prstGeom prst="hexagon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1"/>
                    </a:solidFill>
                  </a:ln>
                  <a:noFill/>
                </a:endParaRPr>
              </a:p>
            </p:txBody>
          </p:sp>
          <p:cxnSp>
            <p:nvCxnSpPr>
              <p:cNvPr id="27" name="Straight Arrow Connector 26"/>
              <p:cNvCxnSpPr>
                <a:stCxn id="22" idx="0"/>
              </p:cNvCxnSpPr>
              <p:nvPr/>
            </p:nvCxnSpPr>
            <p:spPr>
              <a:xfrm flipH="1">
                <a:off x="5495477" y="1768753"/>
                <a:ext cx="400259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V="1">
                <a:off x="5495477" y="1589057"/>
                <a:ext cx="311542" cy="179696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5807018" y="1589057"/>
                <a:ext cx="88717" cy="187316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5842988" y="1417773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smtClean="0">
                    <a:latin typeface="Arial" pitchFamily="34" charset="0"/>
                    <a:cs typeface="Arial" pitchFamily="34" charset="0"/>
                  </a:rPr>
                  <a:t>M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18410" y="1644617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smtClean="0">
                    <a:latin typeface="Arial" pitchFamily="34" charset="0"/>
                    <a:cs typeface="Arial" pitchFamily="34" charset="0"/>
                  </a:rPr>
                  <a:t>K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87601" y="1637476"/>
                <a:ext cx="105494" cy="1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l-GR" sz="1000" dirty="0" smtClean="0">
                    <a:latin typeface="Arial" pitchFamily="34" charset="0"/>
                    <a:cs typeface="Arial" pitchFamily="34" charset="0"/>
                  </a:rPr>
                  <a:t>Γ</a:t>
                </a:r>
                <a:endParaRPr lang="en-US" sz="10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09600" y="5715000"/>
                <a:ext cx="8229600" cy="1177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Fig(1):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Band structure and CES of hexagonal metallic lattice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br>
                  <a:rPr lang="en-US" sz="14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(a) Calculated band structure using EPWE along the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  <a:cs typeface="Arial" pitchFamily="34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1400" b="0" i="1" smtClean="0">
                            <a:latin typeface="Cambria Math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sz="1400" dirty="0" smtClean="0">
                            <a:latin typeface="Arial" pitchFamily="34" charset="0"/>
                            <a:cs typeface="Arial" pitchFamily="34" charset="0"/>
                          </a:rPr>
                          <m:t>MK</m:t>
                        </m:r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directions of first </a:t>
                </a:r>
                <a:r>
                  <a:rPr lang="en-US" sz="1400" dirty="0" err="1" smtClean="0">
                    <a:latin typeface="Arial" pitchFamily="34" charset="0"/>
                    <a:cs typeface="Arial" pitchFamily="34" charset="0"/>
                  </a:rPr>
                  <a:t>brillouin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zone arrows in black hexagon.</a:t>
                </a:r>
                <a:br>
                  <a:rPr lang="en-US" sz="14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(b,c,d) Simulated Constant energy surfaces taken at the black dashed lines in (a), i.e. at 200, 244 and 285 mille electron-volt respectively.</a:t>
                </a:r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5000"/>
                <a:ext cx="8229600" cy="1177438"/>
              </a:xfrm>
              <a:prstGeom prst="rect">
                <a:avLst/>
              </a:prstGeom>
              <a:blipFill rotWithShape="1">
                <a:blip r:embed="rId9"/>
                <a:stretch>
                  <a:fillRect l="-148" t="-518" b="-4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6" t="4505" r="4056" b="4505"/>
          <a:stretch/>
        </p:blipFill>
        <p:spPr bwMode="auto">
          <a:xfrm>
            <a:off x="1533525" y="3449637"/>
            <a:ext cx="1971675" cy="195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1425893" y="3065729"/>
            <a:ext cx="50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Baskerville Old Face" pitchFamily="18" charset="0"/>
                <a:cs typeface="Arial" pitchFamily="34" charset="0"/>
              </a:rPr>
              <a:t>(b)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062162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200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7" t="4438" r="3792" b="4438"/>
          <a:stretch/>
        </p:blipFill>
        <p:spPr bwMode="auto">
          <a:xfrm>
            <a:off x="4046538" y="3449637"/>
            <a:ext cx="1973523" cy="195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3936524" y="3065729"/>
            <a:ext cx="62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askerville Old Face" pitchFamily="18" charset="0"/>
                <a:cs typeface="Arial" pitchFamily="34" charset="0"/>
              </a:rPr>
              <a:t>(c)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6099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244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0" t="4733" r="5245" b="4144"/>
          <a:stretch/>
        </p:blipFill>
        <p:spPr bwMode="auto">
          <a:xfrm>
            <a:off x="6535205" y="3449637"/>
            <a:ext cx="1948871" cy="195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6451385" y="3065729"/>
            <a:ext cx="62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askerville Old Face" pitchFamily="18" charset="0"/>
                <a:cs typeface="Arial" pitchFamily="34" charset="0"/>
              </a:rPr>
              <a:t>(d)</a:t>
            </a:r>
            <a:endParaRPr lang="en-US" dirty="0">
              <a:latin typeface="Baskerville Old Face" pitchFamily="18" charset="0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52440" y="309650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Baskerville Old Face" pitchFamily="18" charset="0"/>
                <a:cs typeface="Arial" pitchFamily="34" charset="0"/>
              </a:rPr>
              <a:t>285 meV</a:t>
            </a:r>
            <a:endParaRPr lang="en-US" sz="1400" dirty="0"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383325"/>
            <a:ext cx="844859" cy="207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8" r="6902"/>
          <a:stretch/>
        </p:blipFill>
        <p:spPr bwMode="auto">
          <a:xfrm>
            <a:off x="1359210" y="3435061"/>
            <a:ext cx="2184090" cy="217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69" y="3338519"/>
            <a:ext cx="2155940" cy="2152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592" y="3390904"/>
            <a:ext cx="2344882" cy="226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578" y="5519137"/>
            <a:ext cx="600422" cy="22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22" y="4114800"/>
            <a:ext cx="280988" cy="61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8" name="Rectangle 337"/>
          <p:cNvSpPr/>
          <p:nvPr/>
        </p:nvSpPr>
        <p:spPr>
          <a:xfrm rot="16200000">
            <a:off x="2342715" y="1352115"/>
            <a:ext cx="17123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Electron Energy (</a:t>
            </a:r>
            <a:r>
              <a:rPr lang="en-US" sz="1400" dirty="0" err="1" smtClean="0"/>
              <a:t>eV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967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1066800" y="67562"/>
            <a:ext cx="4724400" cy="2952325"/>
            <a:chOff x="1066799" y="67562"/>
            <a:chExt cx="5276739" cy="3297487"/>
          </a:xfrm>
        </p:grpSpPr>
        <p:pic>
          <p:nvPicPr>
            <p:cNvPr id="43" name="Picture 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55428"/>
              <a:ext cx="4707399" cy="2909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Straight Connector 4"/>
            <p:cNvCxnSpPr/>
            <p:nvPr/>
          </p:nvCxnSpPr>
          <p:spPr>
            <a:xfrm>
              <a:off x="3611880" y="413899"/>
              <a:ext cx="0" cy="26054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34840" y="406279"/>
              <a:ext cx="0" cy="26054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809824" y="455428"/>
              <a:ext cx="1533714" cy="468512"/>
              <a:chOff x="4732020" y="577635"/>
              <a:chExt cx="2153046" cy="657702"/>
            </a:xfrm>
          </p:grpSpPr>
          <p:pic>
            <p:nvPicPr>
              <p:cNvPr id="3080" name="Picture 8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8389"/>
              <a:stretch/>
            </p:blipFill>
            <p:spPr bwMode="auto">
              <a:xfrm>
                <a:off x="4732020" y="580123"/>
                <a:ext cx="396241" cy="572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5122960" y="577635"/>
                <a:ext cx="1762106" cy="657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a</a:t>
                </a:r>
                <a:br>
                  <a:rPr lang="en-US" sz="7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c</a:t>
                </a:r>
                <a:br>
                  <a:rPr lang="en-US" sz="700" dirty="0" smtClean="0">
                    <a:latin typeface="Arial" pitchFamily="34" charset="0"/>
                    <a:cs typeface="Arial" pitchFamily="34" charset="0"/>
                  </a:rPr>
                </a:br>
                <a:r>
                  <a:rPr lang="en-US" sz="700" dirty="0" smtClean="0">
                    <a:latin typeface="Arial" pitchFamily="34" charset="0"/>
                    <a:cs typeface="Arial" pitchFamily="34" charset="0"/>
                  </a:rPr>
                  <a:t>LDOS at b</a:t>
                </a:r>
                <a:endParaRPr lang="en-US" sz="7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66799" y="67562"/>
              <a:ext cx="4363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(a)</a:t>
              </a:r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48400" y="70101"/>
            <a:ext cx="1884567" cy="2596899"/>
            <a:chOff x="5890364" y="-18018"/>
            <a:chExt cx="2339236" cy="3223424"/>
          </a:xfrm>
        </p:grpSpPr>
        <p:grpSp>
          <p:nvGrpSpPr>
            <p:cNvPr id="24" name="Group 23"/>
            <p:cNvGrpSpPr/>
            <p:nvPr/>
          </p:nvGrpSpPr>
          <p:grpSpPr>
            <a:xfrm>
              <a:off x="6172200" y="322282"/>
              <a:ext cx="2057400" cy="2883124"/>
              <a:chOff x="6316428" y="2971800"/>
              <a:chExt cx="2827572" cy="3962400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6316428" y="2971800"/>
                <a:ext cx="2827572" cy="3962400"/>
                <a:chOff x="6316428" y="2286000"/>
                <a:chExt cx="2827572" cy="3962400"/>
              </a:xfrm>
            </p:grpSpPr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16428" y="2286000"/>
                  <a:ext cx="2827572" cy="396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9" name="TextBox 28"/>
                <p:cNvSpPr txBox="1"/>
                <p:nvPr/>
              </p:nvSpPr>
              <p:spPr>
                <a:xfrm>
                  <a:off x="7543800" y="3505200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7543800" y="4355068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6705600" y="3886200"/>
                  <a:ext cx="228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  <p:sp>
            <p:nvSpPr>
              <p:cNvPr id="26" name="Isosceles Triangle 25"/>
              <p:cNvSpPr/>
              <p:nvPr/>
            </p:nvSpPr>
            <p:spPr>
              <a:xfrm>
                <a:off x="7048500" y="3505201"/>
                <a:ext cx="1562100" cy="12954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chemeClr val="tx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 flipV="1">
                <a:off x="7048500" y="4800600"/>
                <a:ext cx="1562100" cy="129540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chemeClr val="tx1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5890364" y="-18018"/>
              <a:ext cx="4475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(b)</a:t>
              </a:r>
              <a:endParaRPr lang="en-US" dirty="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09600" y="5755164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 pitchFamily="34" charset="0"/>
                <a:cs typeface="Arial" pitchFamily="34" charset="0"/>
              </a:rPr>
              <a:t>Fig(2):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/>
              <a:t>LDOS of hexagonal lattice with circular scatters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– (a) </a:t>
            </a:r>
            <a:r>
              <a:rPr lang="en-US" sz="1400" dirty="0" smtClean="0"/>
              <a:t>The local density of states (LDOS) calculated by EPWE for three points in the unit cell, as shown in (b). (</a:t>
            </a:r>
            <a:r>
              <a:rPr lang="en-US" sz="1400" dirty="0" err="1" smtClean="0"/>
              <a:t>c,d</a:t>
            </a:r>
            <a:r>
              <a:rPr lang="en-US" sz="1400" dirty="0" smtClean="0"/>
              <a:t>) The 2D-LDOS taken at 240 meV and 338 meV.</a:t>
            </a:r>
            <a:br>
              <a:rPr lang="en-US" sz="1400" dirty="0" smtClean="0"/>
            </a:b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510512" y="2971800"/>
            <a:ext cx="4804688" cy="2743200"/>
            <a:chOff x="2510512" y="2971800"/>
            <a:chExt cx="4804688" cy="274320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512" y="3317067"/>
              <a:ext cx="2594888" cy="23979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3" name="Picture 1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3276600"/>
              <a:ext cx="2286000" cy="2239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2543780" y="2971800"/>
              <a:ext cx="628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askerville Old Face" pitchFamily="18" charset="0"/>
                  <a:cs typeface="Arial" pitchFamily="34" charset="0"/>
                </a:rPr>
                <a:t>(c)</a:t>
              </a:r>
              <a:endParaRPr lang="en-US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381980" y="3002578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Baskerville Old Face" pitchFamily="18" charset="0"/>
                  <a:cs typeface="Arial" pitchFamily="34" charset="0"/>
                </a:rPr>
                <a:t>240 meV</a:t>
              </a:r>
              <a:endParaRPr lang="en-US" sz="1400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953000" y="2971800"/>
              <a:ext cx="628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askerville Old Face" pitchFamily="18" charset="0"/>
                  <a:cs typeface="Arial" pitchFamily="34" charset="0"/>
                </a:rPr>
                <a:t>(d)</a:t>
              </a:r>
              <a:endParaRPr lang="en-US" dirty="0">
                <a:latin typeface="Baskerville Old Face" pitchFamily="18" charset="0"/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715000" y="3002578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Baskerville Old Face" pitchFamily="18" charset="0"/>
                  <a:cs typeface="Arial" pitchFamily="34" charset="0"/>
                </a:rPr>
                <a:t>338 meV</a:t>
              </a:r>
              <a:endParaRPr lang="en-US" sz="1400" dirty="0">
                <a:latin typeface="Baskerville Old Face" pitchFamily="18" charset="0"/>
                <a:cs typeface="Arial" pitchFamily="34" charset="0"/>
              </a:endParaRPr>
            </a:p>
          </p:txBody>
        </p:sp>
      </p:grpSp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452" y="3558359"/>
            <a:ext cx="4476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84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12615"/>
            <a:ext cx="3775206" cy="3633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650" name="Group 7649"/>
          <p:cNvGrpSpPr/>
          <p:nvPr/>
        </p:nvGrpSpPr>
        <p:grpSpPr>
          <a:xfrm>
            <a:off x="241842" y="-29617"/>
            <a:ext cx="5092158" cy="4917499"/>
            <a:chOff x="279061" y="1143000"/>
            <a:chExt cx="3416047" cy="3298878"/>
          </a:xfrm>
        </p:grpSpPr>
        <p:grpSp>
          <p:nvGrpSpPr>
            <p:cNvPr id="7642" name="Group 7641"/>
            <p:cNvGrpSpPr/>
            <p:nvPr/>
          </p:nvGrpSpPr>
          <p:grpSpPr>
            <a:xfrm>
              <a:off x="533400" y="1546789"/>
              <a:ext cx="3161708" cy="2719814"/>
              <a:chOff x="2217023" y="958850"/>
              <a:chExt cx="5741115" cy="4938713"/>
            </a:xfrm>
          </p:grpSpPr>
          <p:pic>
            <p:nvPicPr>
              <p:cNvPr id="7685" name="Picture 2565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8"/>
              <a:stretch/>
            </p:blipFill>
            <p:spPr bwMode="auto">
              <a:xfrm>
                <a:off x="2217023" y="958850"/>
                <a:ext cx="5741115" cy="4938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86" name="Picture 2566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552" t="15256" r="935" b="28718"/>
              <a:stretch/>
            </p:blipFill>
            <p:spPr bwMode="auto">
              <a:xfrm>
                <a:off x="2720340" y="1728844"/>
                <a:ext cx="5199697" cy="27669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304800" y="1143000"/>
              <a:ext cx="3265178" cy="3298878"/>
              <a:chOff x="399690" y="-705120"/>
              <a:chExt cx="3265178" cy="2998978"/>
            </a:xfrm>
          </p:grpSpPr>
          <p:sp>
            <p:nvSpPr>
              <p:cNvPr id="18" name="TextBox 17"/>
              <p:cNvSpPr txBox="1"/>
              <p:nvPr/>
            </p:nvSpPr>
            <p:spPr>
              <a:xfrm flipH="1">
                <a:off x="399690" y="-70512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(a)</a:t>
                </a: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762000" y="-460492"/>
                <a:ext cx="2902868" cy="2754350"/>
                <a:chOff x="762000" y="-460492"/>
                <a:chExt cx="2902868" cy="2754350"/>
              </a:xfrm>
            </p:grpSpPr>
            <p:cxnSp>
              <p:nvCxnSpPr>
                <p:cNvPr id="20" name="Straight Connector 19"/>
                <p:cNvCxnSpPr/>
                <p:nvPr/>
              </p:nvCxnSpPr>
              <p:spPr>
                <a:xfrm>
                  <a:off x="912019" y="-246180"/>
                  <a:ext cx="266938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7620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1" name="TextBox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0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TextBox 21"/>
                    <p:cNvSpPr txBox="1"/>
                    <p:nvPr/>
                  </p:nvSpPr>
                  <p:spPr>
                    <a:xfrm>
                      <a:off x="16002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M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02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r="-10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TextBox 22"/>
                    <p:cNvSpPr txBox="1"/>
                    <p:nvPr/>
                  </p:nvSpPr>
                  <p:spPr>
                    <a:xfrm>
                      <a:off x="2286000" y="-460492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dirty="0" smtClean="0">
                                    <a:latin typeface="Cambria Math"/>
                                  </a:rPr>
                                  <m:t>K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3" name="TextBox 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000" y="-460492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r="-212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3281487" y="-460327"/>
                      <a:ext cx="383381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l-GR" sz="1100" i="1" dirty="0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100" i="0" dirty="0" smtClean="0">
                                    <a:latin typeface="Cambria Math"/>
                                  </a:rPr>
                                  <m:t>Γ</m:t>
                                </m:r>
                              </m:e>
                            </m:acc>
                          </m:oMath>
                        </m:oMathPara>
                      </a14:m>
                      <a:endParaRPr lang="en-US" sz="1100" dirty="0"/>
                    </a:p>
                  </p:txBody>
                </p:sp>
              </mc:Choice>
              <mc:Fallback>
                <p:sp>
                  <p:nvSpPr>
                    <p:cNvPr id="24" name="TextBox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1487" y="-460327"/>
                      <a:ext cx="383381" cy="261610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1771289" y="1996515"/>
                      <a:ext cx="898091" cy="2973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/>
                                </a:rPr>
                                <m:t>||</m:t>
                              </m:r>
                            </m:sub>
                          </m:sSub>
                        </m:oMath>
                      </a14:m>
                      <a:r>
                        <a:rPr lang="en-US" sz="1400" dirty="0" smtClean="0"/>
                        <a:t>(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oMath>
                      </a14:m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p:txBody>
                </p:sp>
              </mc:Choice>
              <mc:Fallback>
                <p:sp>
                  <p:nvSpPr>
                    <p:cNvPr id="25" name="TextBox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1289" y="1996515"/>
                      <a:ext cx="898091" cy="297343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7644" name="Straight Connector 7643"/>
            <p:cNvCxnSpPr/>
            <p:nvPr/>
          </p:nvCxnSpPr>
          <p:spPr>
            <a:xfrm>
              <a:off x="1752600" y="1647833"/>
              <a:ext cx="0" cy="233837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/>
            <p:cNvCxnSpPr/>
            <p:nvPr/>
          </p:nvCxnSpPr>
          <p:spPr>
            <a:xfrm>
              <a:off x="2438400" y="1654984"/>
              <a:ext cx="0" cy="233837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49" name="Rectangle 7648"/>
            <p:cNvSpPr/>
            <p:nvPr/>
          </p:nvSpPr>
          <p:spPr>
            <a:xfrm rot="16200000">
              <a:off x="-359620" y="2588891"/>
              <a:ext cx="1545774" cy="2684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Electron Energy (</a:t>
              </a:r>
              <a:r>
                <a:rPr lang="en-US" sz="2000" dirty="0" err="1" smtClean="0"/>
                <a:t>eV</a:t>
              </a:r>
              <a:r>
                <a:rPr lang="en-US" sz="2000" dirty="0" smtClean="0"/>
                <a:t>)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98" name="TextBox 2597"/>
              <p:cNvSpPr txBox="1"/>
              <p:nvPr/>
            </p:nvSpPr>
            <p:spPr>
              <a:xfrm>
                <a:off x="609600" y="5107349"/>
                <a:ext cx="82296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>
                    <a:latin typeface="Arial" pitchFamily="34" charset="0"/>
                    <a:cs typeface="Arial" pitchFamily="34" charset="0"/>
                  </a:rPr>
                  <a:t>Fig(3):</a:t>
                </a: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1400" b="1" dirty="0" smtClean="0"/>
                  <a:t>Effect of </a:t>
                </a:r>
                <a:r>
                  <a:rPr lang="en-US" sz="1400" b="1" dirty="0"/>
                  <a:t>P</a:t>
                </a:r>
                <a:r>
                  <a:rPr lang="en-US" sz="1400" b="1" dirty="0" smtClean="0"/>
                  <a:t>eriodic Potential on the hexagonal Electronic Structure </a:t>
                </a:r>
                <a:br>
                  <a:rPr lang="en-US" sz="1400" b="1" dirty="0" smtClean="0"/>
                </a:br>
                <a:r>
                  <a:rPr lang="en-US" sz="1400" dirty="0" smtClean="0">
                    <a:latin typeface="Arial" pitchFamily="34" charset="0"/>
                    <a:cs typeface="Arial" pitchFamily="34" charset="0"/>
                  </a:rPr>
                  <a:t>(a) </a:t>
                </a:r>
                <a:r>
                  <a:rPr lang="en-US" sz="1400" dirty="0" smtClean="0"/>
                  <a:t>Calculated band structures using EPWE for two hexagonal metallic super lattices of different potential barrier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, along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400" b="0" i="1" smtClean="0">
                            <a:latin typeface="Cambria Math"/>
                            <a:cs typeface="Arial" pitchFamily="34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sz="1400" dirty="0" smtClean="0">
                            <a:latin typeface="Arial" pitchFamily="34" charset="0"/>
                            <a:cs typeface="Arial" pitchFamily="34" charset="0"/>
                          </a:rPr>
                          <m:t>MK</m:t>
                        </m:r>
                        <m:r>
                          <m:rPr>
                            <m:nor/>
                          </m:rPr>
                          <a:rPr lang="el-GR" sz="1400" dirty="0" smtClean="0">
                            <a:latin typeface="Arial" pitchFamily="34" charset="0"/>
                            <a:cs typeface="Arial" pitchFamily="34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lang="en-US" sz="1400" dirty="0" smtClean="0"/>
                  <a:t> directions. All calculation parameters were the same in the two cases, except 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 is changed from 700 meV (black band) to 30 </a:t>
                </a:r>
                <a:r>
                  <a:rPr lang="en-US" sz="1400" dirty="0" err="1" smtClean="0"/>
                  <a:t>eV</a:t>
                </a:r>
                <a:r>
                  <a:rPr lang="en-US" sz="1400" dirty="0" smtClean="0"/>
                  <a:t> (red band).</a:t>
                </a:r>
                <a:br>
                  <a:rPr lang="en-US" sz="1400" dirty="0" smtClean="0"/>
                </a:br>
                <a:r>
                  <a:rPr lang="en-US" sz="1400" dirty="0" smtClean="0"/>
                  <a:t>(b) The </a:t>
                </a:r>
                <a:r>
                  <a:rPr lang="el-GR" sz="1400" dirty="0" smtClean="0"/>
                  <a:t>Γ-</a:t>
                </a:r>
                <a:r>
                  <a:rPr lang="en-US" sz="1400" dirty="0" smtClean="0"/>
                  <a:t>point energy (red) and M-gap size (blue) as a function of the base potential barrier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2598" name="TextBox 25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07349"/>
                <a:ext cx="8229600" cy="1169551"/>
              </a:xfrm>
              <a:prstGeom prst="rect">
                <a:avLst/>
              </a:prstGeom>
              <a:blipFill rotWithShape="1">
                <a:blip r:embed="rId10"/>
                <a:stretch>
                  <a:fillRect l="-148" t="-521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75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2741</TotalTime>
  <Words>173</Words>
  <Application>Microsoft Office PowerPoint</Application>
  <PresentationFormat>A4 Paper (210x297 mm)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Final data for hexagonal lattce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 for hexagonal lattce</dc:title>
  <dc:creator>Abdulrahman Ahmed M.Bahget</dc:creator>
  <cp:lastModifiedBy>Abdulrahman Ahmed M.Bahget</cp:lastModifiedBy>
  <cp:revision>29</cp:revision>
  <dcterms:created xsi:type="dcterms:W3CDTF">2026-03-02T12:41:53Z</dcterms:created>
  <dcterms:modified xsi:type="dcterms:W3CDTF">2026-03-04T10:23:06Z</dcterms:modified>
</cp:coreProperties>
</file>